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選擇光明，活出喜樂</a:t>
            </a:r>
          </a:p>
          <a:p>
            <a:r>
              <a:t>破冰遊戲｜00–10 分鐘</a:t>
            </a:r>
          </a:p>
          <a:p>
            <a:r>
              <a:t>呢頁建議：0.5 分鐘</a:t>
            </a:r>
          </a:p>
          <a:p>
            <a:r>
              <a:t>呢頁重點：以喜樂、尊重和信仰分辨建立聚會氣氛。</a:t>
            </a:r>
          </a:p>
          <a:p/>
          <a:p>
            <a:r>
              <a:t>導師可以咁講：</a:t>
            </a:r>
          </a:p>
          <a:p>
            <a:r>
              <a:t>1. 歡迎大家。今日唔係要取笑慶祝萬聖節嘅人，而係一齊諗清楚自己嘅選擇。</a:t>
            </a:r>
          </a:p>
          <a:p>
            <a:r>
              <a:t>2. 可以分享，都可以先聆聽；唔使透露令你唔舒服嘅經歷。</a:t>
            </a:r>
          </a:p>
          <a:p>
            <a:r>
              <a:t>3. 我哋會玩遊戲、瞭解文化、討論同儕壓力，最後以禱告和光明派對回應。</a:t>
            </a:r>
          </a:p>
          <a:p/>
          <a:p>
            <a:r>
              <a:t>轉去下一頁：先睇下呢一小時嘅路線。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一小時，一起走向光</a:t>
            </a:r>
          </a:p>
          <a:p>
            <a:r>
              <a:t>破冰遊戲｜00–10 分鐘</a:t>
            </a:r>
          </a:p>
          <a:p>
            <a:r>
              <a:t>呢頁建議：0.5 分鐘</a:t>
            </a:r>
          </a:p>
          <a:p>
            <a:r>
              <a:t>呢頁重點：等青少年知道五個環節及各自嘅時間。</a:t>
            </a:r>
          </a:p>
          <a:p/>
          <a:p>
            <a:r>
              <a:t>導師可以咁講：</a:t>
            </a:r>
          </a:p>
          <a:p>
            <a:r>
              <a:t>1. 按時間介紹五個環節，唔逐字朗讀表格。</a:t>
            </a:r>
          </a:p>
          <a:p>
            <a:r>
              <a:t>2. 活動共 60 分鐘；逐頁安排 54 分鐘，留返 6 分鐘停一停、換組和交流。</a:t>
            </a:r>
          </a:p>
          <a:p>
            <a:r>
              <a:t>3. 小組討論唔設標準答案；歡迎真實講出同學邀請時嘅困難。</a:t>
            </a:r>
          </a:p>
          <a:p/>
          <a:p>
            <a:r>
              <a:t>轉去下一頁：用三道真假題熱身，睇下我哋知道多少。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真假萬聖節大挑戰</a:t>
            </a:r>
          </a:p>
          <a:p>
            <a:r>
              <a:t>破冰遊戲｜00–10 分鐘</a:t>
            </a:r>
          </a:p>
          <a:p>
            <a:r>
              <a:t>呢頁建議：1 分鐘</a:t>
            </a:r>
          </a:p>
          <a:p>
            <a:r>
              <a:t>呢頁重點：講清楚分隊、作答和計分，建立安心又輕鬆嘅參加方式。</a:t>
            </a:r>
          </a:p>
          <a:p/>
          <a:p>
            <a:r>
              <a:t>導師可以咁講：</a:t>
            </a:r>
          </a:p>
          <a:p>
            <a:r>
              <a:t>1. 分成「光明隊」同「晨光隊」，兩個隊名都正面，唔把任何一組叫黑暗隊。</a:t>
            </a:r>
          </a:p>
          <a:p>
            <a:r>
              <a:t>2. 各隊可用真／假卡、手勢或口頭作答；讀完題目後口數 5 秒。</a:t>
            </a:r>
          </a:p>
          <a:p>
            <a:r>
              <a:t>3. 答對得 1 分；先鎖定答案才翻下一頁揭曉。唔嘲笑答錯嘅人。</a:t>
            </a:r>
          </a:p>
          <a:p/>
          <a:p>
            <a:r>
              <a:t>轉去下一頁：第一題：討糖果最初就係為咗攞朱古力嗎？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討糖果，一開始就係為咗攞朱古力？</a:t>
            </a:r>
          </a:p>
          <a:p>
            <a:r>
              <a:t>破冰遊戲｜00–10 分鐘</a:t>
            </a:r>
          </a:p>
          <a:p>
            <a:r>
              <a:t>呢頁建議：0.75 分鐘</a:t>
            </a:r>
          </a:p>
          <a:p>
            <a:r>
              <a:t>呢頁重點：等兩隊先作答，再揭曉，避免答案提前出現。</a:t>
            </a:r>
          </a:p>
          <a:p/>
          <a:p>
            <a:r>
              <a:t>導師可以咁講：</a:t>
            </a:r>
          </a:p>
          <a:p>
            <a:r>
              <a:t>1. 只讀題目，唔透露答案頁嘅內容。</a:t>
            </a:r>
          </a:p>
          <a:p>
            <a:r>
              <a:t>2. 請兩隊商量，讀完後口數 5、4、3、2、1。</a:t>
            </a:r>
          </a:p>
          <a:p>
            <a:r>
              <a:t>3. 確認兩隊已亮出真／假卡，再翻頁。</a:t>
            </a:r>
          </a:p>
          <a:p/>
          <a:p>
            <a:r>
              <a:t>轉去下一頁：睇下今日嘅糖果習俗，有哪些歷史前身。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假：糖果唔係唯一嘅起點</a:t>
            </a:r>
          </a:p>
          <a:p>
            <a:r>
              <a:t>破冰遊戲｜00–10 分鐘</a:t>
            </a:r>
          </a:p>
          <a:p>
            <a:r>
              <a:t>呢頁建議：1.5 分鐘</a:t>
            </a:r>
          </a:p>
          <a:p>
            <a:r>
              <a:t>呢頁重點：用較審慎嘅講法交代 souling、guising 同現代討糖果嘅關係。</a:t>
            </a:r>
          </a:p>
          <a:p/>
          <a:p>
            <a:r>
              <a:t>導師可以咁講：</a:t>
            </a:r>
          </a:p>
          <a:p>
            <a:r>
              <a:t>1. 宣佈答案：假。討糖果唔係最初為咗攞朱古力。</a:t>
            </a:r>
          </a:p>
          <a:p>
            <a:r>
              <a:t>2. 相關前身包括 souling：以為亡者祈禱換取食物或「靈魂餅」；同埋 guising：裝扮後表演換取食物或小禮物。</a:t>
            </a:r>
          </a:p>
          <a:p>
            <a:r>
              <a:t>3. 習俗經唔同地區和年代演變，唔可以把現代討糖果簡化為一條確定嘅「古凱爾特驅鬼」直線。</a:t>
            </a:r>
          </a:p>
          <a:p/>
          <a:p>
            <a:r>
              <a:t>轉去下一頁：跟住看南瓜燈：主角一直都係南瓜嗎？</a:t>
            </a:r>
          </a:p>
          <a:p>
            <a:r>
              <a:t>時間提示：現場共 60 分鐘；每頁安排共 54 分鐘，留返 6 分鐘彈性。</a:t>
            </a:r>
          </a:p>
          <a:p/>
          <a:p>
            <a:r>
              <a:t>歷史概述參考：https://www.history.com/articles/history-of-halloween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南瓜燈，最早係用南瓜做嘅？</a:t>
            </a:r>
          </a:p>
          <a:p>
            <a:r>
              <a:t>破冰遊戲｜00–10 分鐘</a:t>
            </a:r>
          </a:p>
          <a:p>
            <a:r>
              <a:t>呢頁建議：0.75 分鐘</a:t>
            </a:r>
          </a:p>
          <a:p>
            <a:r>
              <a:t>呢頁重點：以熟悉嘅節日符號引起好奇。</a:t>
            </a:r>
          </a:p>
          <a:p/>
          <a:p>
            <a:r>
              <a:t>導師可以咁講：</a:t>
            </a:r>
          </a:p>
          <a:p>
            <a:r>
              <a:t>1. 讀題：「Jack-o'-lantern 最早就係用南瓜做嘅？」</a:t>
            </a:r>
          </a:p>
          <a:p>
            <a:r>
              <a:t>2. 讀完後口數 5 秒，提醒隊員一起作答。</a:t>
            </a:r>
          </a:p>
          <a:p>
            <a:r>
              <a:t>3. 鎖定答案後才翻頁；可以先請一位隊員講講理由。</a:t>
            </a:r>
          </a:p>
          <a:p/>
          <a:p>
            <a:r>
              <a:t>轉去下一頁：答案藏在愛爾蘭嘅蔬菜裡。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假：早期常用蕪菁</a:t>
            </a:r>
          </a:p>
          <a:p>
            <a:r>
              <a:t>破冰遊戲｜00–10 分鐘</a:t>
            </a:r>
          </a:p>
          <a:p>
            <a:r>
              <a:t>呢頁建議：1.5 分鐘</a:t>
            </a:r>
          </a:p>
          <a:p>
            <a:r>
              <a:t>呢頁重點：等青少年看見民俗隨地區和材料而改變。</a:t>
            </a:r>
          </a:p>
          <a:p/>
          <a:p>
            <a:r>
              <a:t>導師可以咁講：</a:t>
            </a:r>
          </a:p>
          <a:p>
            <a:r>
              <a:t>1. 宣佈答案：假。愛爾蘭等地早期常用蕪菁或其他根莖蔬菜雕刻燈籠。</a:t>
            </a:r>
          </a:p>
          <a:p>
            <a:r>
              <a:t>2. 移民到北美後，南瓜因較常見、較易雕刻而廣泛使用。</a:t>
            </a:r>
          </a:p>
          <a:p>
            <a:r>
              <a:t>3. 符號和材料會變；今日我哋都可以主動選擇傳遞希望嘅創意，而唔係用恐怖嚇人。</a:t>
            </a:r>
          </a:p>
          <a:p/>
          <a:p>
            <a:r>
              <a:t>轉去下一頁：最後一題，回到節日更早嘅背景。</a:t>
            </a:r>
          </a:p>
          <a:p>
            <a:r>
              <a:t>時間提示：現場共 60 分鐘；每頁安排共 54 分鐘，留返 6 分鐘彈性。</a:t>
            </a:r>
          </a:p>
          <a:p/>
          <a:p>
            <a:r>
              <a:t>歷史概述參考：https://www.history.com/articles/history-of-halloween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萬聖節嘅歷史背景，包括薩溫節？</a:t>
            </a:r>
          </a:p>
          <a:p>
            <a:r>
              <a:t>破冰遊戲｜00–10 分鐘</a:t>
            </a:r>
          </a:p>
          <a:p>
            <a:r>
              <a:t>呢頁建議：0.75 分鐘</a:t>
            </a:r>
          </a:p>
          <a:p>
            <a:r>
              <a:t>呢頁重點：把遊戲自然連線到歷史講解，避免混淆薩溫節同冬至。</a:t>
            </a:r>
          </a:p>
          <a:p/>
          <a:p>
            <a:r>
              <a:t>導師可以咁講：</a:t>
            </a:r>
          </a:p>
          <a:p>
            <a:r>
              <a:t>1. 讀題：「萬聖節嘅歷史背景，包括古凱爾特人嘅薩溫節？」</a:t>
            </a:r>
          </a:p>
          <a:p>
            <a:r>
              <a:t>2. 口數 5 秒；唔把問題改成「只有單一起源」，以免造成誤導。</a:t>
            </a:r>
          </a:p>
          <a:p>
            <a:r>
              <a:t>3. 先鎖定答案，再揭曉；順便宣佈兩隊分數。</a:t>
            </a:r>
          </a:p>
          <a:p/>
          <a:p>
            <a:r>
              <a:t>轉去下一頁：正確答案，都提醒我哋一個常見嘅日期誤會。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真：薩溫節係重要背景之一</a:t>
            </a:r>
          </a:p>
          <a:p>
            <a:r>
              <a:t>破冰遊戲｜00–10 分鐘</a:t>
            </a:r>
          </a:p>
          <a:p>
            <a:r>
              <a:t>呢頁建議：1.75 分鐘</a:t>
            </a:r>
          </a:p>
          <a:p>
            <a:r>
              <a:t>呢頁重點：修正冬至前夕嘅誤講，建立多來源歷史框架。</a:t>
            </a:r>
          </a:p>
          <a:p/>
          <a:p>
            <a:r>
              <a:t>導師可以咁講：</a:t>
            </a:r>
          </a:p>
          <a:p>
            <a:r>
              <a:t>1. 宣佈答案：真，薩溫節係萬聖節嘅重要歷史背景之一。</a:t>
            </a:r>
          </a:p>
          <a:p>
            <a:r>
              <a:t>2. 薩溫節同收穫季結束、進入冬季有關，大約係 10 月 31 日至 11 月 1 日；唔係 12 月嘅冬至前夕。</a:t>
            </a:r>
          </a:p>
          <a:p>
            <a:r>
              <a:t>3. 萬聖節都有基督教節期同後來民俗嘅影響。古人嘅亡靈信念係歷史記述，唔係今日要證實嘅事實。</a:t>
            </a:r>
          </a:p>
          <a:p/>
          <a:p>
            <a:r>
              <a:t>轉去下一頁：知道節日從哪裡來後，我哋仲要問：今日點樣選擇？</a:t>
            </a:r>
          </a:p>
          <a:p>
            <a:r>
              <a:t>時間提示：現場共 60 分鐘；每頁安排共 54 分鐘，留返 6 分鐘彈性。</a:t>
            </a:r>
          </a:p>
          <a:p/>
          <a:p>
            <a:r>
              <a:t>歷史概述參考：https://www.history.com/articles/history-of-halloween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知道由來，更要想清楚選擇</a:t>
            </a:r>
          </a:p>
          <a:p>
            <a:r>
              <a:t>專題講解｜10–25 分鐘</a:t>
            </a:r>
          </a:p>
          <a:p>
            <a:r>
              <a:t>呢頁建議：0.5 分鐘</a:t>
            </a:r>
          </a:p>
          <a:p>
            <a:r>
              <a:t>呢頁重點：由文化知識轉向生活和信仰分辨。</a:t>
            </a:r>
          </a:p>
          <a:p/>
          <a:p>
            <a:r>
              <a:t>導師可以咁講：</a:t>
            </a:r>
          </a:p>
          <a:p>
            <a:r>
              <a:t>1. 大家平時諗起萬聖節，可能就係扮靚、食糖果、同朋友去 Party。</a:t>
            </a:r>
          </a:p>
          <a:p>
            <a:r>
              <a:t>2. 好玩以外，我哋都可以問：呢個活動喺慶祝乜嘢？會點樣影響我同身邊嘅人？</a:t>
            </a:r>
          </a:p>
          <a:p>
            <a:r>
              <a:t>3. 今日一齊認識背景，再用信仰諗清楚點樣選擇，同時尊重其他人。</a:t>
            </a:r>
          </a:p>
          <a:p/>
          <a:p>
            <a:r>
              <a:t>轉去下一頁：先把三段歷史放放喺同一張時間線上。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一個節日，幾層歷史</a:t>
            </a:r>
          </a:p>
          <a:p>
            <a:r>
              <a:t>專題講解｜10–25 分鐘</a:t>
            </a:r>
          </a:p>
          <a:p>
            <a:r>
              <a:t>呢頁建議：2.5 分鐘</a:t>
            </a:r>
          </a:p>
          <a:p>
            <a:r>
              <a:t>呢頁重點：區分古代民俗、基督教節期名稱和近代娛樂化。</a:t>
            </a:r>
          </a:p>
          <a:p/>
          <a:p>
            <a:r>
              <a:t>導師可以咁講：</a:t>
            </a:r>
          </a:p>
          <a:p>
            <a:r>
              <a:t>1. 第一層：古凱爾特嘅薩溫節，同收穫、入冬、篝火及當時嘅亡靈信念有關。</a:t>
            </a:r>
          </a:p>
          <a:p>
            <a:r>
              <a:t>2. 第二層：西方教會嘅諸聖節係 11 月 1 日；前一晚稱 All Hallows' Eve，名稱後來成為 Halloween。</a:t>
            </a:r>
          </a:p>
          <a:p>
            <a:r>
              <a:t>3. 第三層：民俗和移民文化延續變化，慢慢形成裝扮、討糖果及商業派對。</a:t>
            </a:r>
          </a:p>
          <a:p>
            <a:r>
              <a:t>4. 歷史關係有唔同解讀；避免把所有服裝、糖果或參加者都講成敬拜鬼魂。</a:t>
            </a:r>
          </a:p>
          <a:p/>
          <a:p>
            <a:r>
              <a:t>轉去下一頁：歷史背景、今日嘅活動和我嘅信仰，係三件需要分開嘅事。</a:t>
            </a:r>
          </a:p>
          <a:p>
            <a:r>
              <a:t>時間提示：現場共 60 分鐘；每頁安排共 54 分鐘，留返 6 分鐘彈性。</a:t>
            </a:r>
          </a:p>
          <a:p/>
          <a:p>
            <a:r>
              <a:t>歷史概述參考：https://www.history.com/articles/history-of-halloween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別把三件事混為一談</a:t>
            </a:r>
          </a:p>
          <a:p>
            <a:r>
              <a:t>專題講解｜10–25 分鐘</a:t>
            </a:r>
          </a:p>
          <a:p>
            <a:r>
              <a:t>呢頁建議：1 分鐘</a:t>
            </a:r>
          </a:p>
          <a:p>
            <a:r>
              <a:t>呢頁重點：講清楚基督徒唔係一概唔慶祝，清楚交代本次聚會立場。</a:t>
            </a:r>
          </a:p>
          <a:p/>
          <a:p>
            <a:r>
              <a:t>導師可以咁講：</a:t>
            </a:r>
          </a:p>
          <a:p>
            <a:r>
              <a:t>1. 基督徒及唔同教會對萬聖節唔係完全一致：有人唔參加，有人記念諸聖節，都有人參加非恐怖嘅社區活動。</a:t>
            </a:r>
          </a:p>
          <a:p>
            <a:r>
              <a:t>2. 本次聚會採取唔參加招魂、占卜及恐怖主題活動，改以光明派對回應嘅方向。</a:t>
            </a:r>
          </a:p>
          <a:p>
            <a:r>
              <a:t>3. 我哋看實際活動內容、信仰和良心，唔用標籤別人；如果有疑問，可同家長或導師商量。</a:t>
            </a:r>
          </a:p>
          <a:p/>
          <a:p>
            <a:r>
              <a:t>轉去下一頁：跟住用三段經文，諗下自己嘅身份、分辨和勇氣。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我哋追求光，活出生命</a:t>
            </a:r>
          </a:p>
          <a:p>
            <a:r>
              <a:t>專題講解｜10–25 分鐘</a:t>
            </a:r>
          </a:p>
          <a:p>
            <a:r>
              <a:t>呢頁建議：2.5 分鐘</a:t>
            </a:r>
          </a:p>
          <a:p>
            <a:r>
              <a:t>呢頁重點：以耶穌係世界嘅光建立正面嘅信仰身份。</a:t>
            </a:r>
          </a:p>
          <a:p/>
          <a:p>
            <a:r>
              <a:t>導師可以咁講：</a:t>
            </a:r>
          </a:p>
          <a:p>
            <a:r>
              <a:t>1. 邀請大家讀約翰福音 8:12。耶穌帶來嘅係生命嘅光，唔止係叫我哋避開某個節日。</a:t>
            </a:r>
          </a:p>
          <a:p>
            <a:r>
              <a:t>2. 我哋唔係因為膽小才做出選擇；我哋希望把愛、希望和生命帶給身邊嘅人。</a:t>
            </a:r>
          </a:p>
          <a:p>
            <a:r>
              <a:t>3. 唔把同學叫作黑暗嘅人，都唔把喜歡裝扮嘅人睇成壞人；我哋分辨活動，而唔係羞辱人。</a:t>
            </a:r>
          </a:p>
          <a:p>
            <a:r>
              <a:t>4. 問：今日有哪些行動，可以令朋友感受到被接納？</a:t>
            </a:r>
          </a:p>
          <a:p/>
          <a:p>
            <a:r>
              <a:t>轉去下一頁：有咗身份，仲需要學會停一停、諗一諗。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停一停，諗一諗</a:t>
            </a:r>
          </a:p>
          <a:p>
            <a:r>
              <a:t>專題講解｜10–25 分鐘</a:t>
            </a:r>
          </a:p>
          <a:p>
            <a:r>
              <a:t>呢頁建議：2.5 分鐘</a:t>
            </a:r>
          </a:p>
          <a:p>
            <a:r>
              <a:t>呢頁重點：把羅馬書 12:2 化為青少年可用嘅分辨問題。</a:t>
            </a:r>
          </a:p>
          <a:p/>
          <a:p>
            <a:r>
              <a:t>導師可以咁講：</a:t>
            </a:r>
          </a:p>
          <a:p>
            <a:r>
              <a:t>1. 讀羅馬書 12:2。心意更新唔係盲目同人唱反調，而係察驗乜嘢合乎神嘅心意。</a:t>
            </a:r>
          </a:p>
          <a:p>
            <a:r>
              <a:t>2. 流行唔等於有益；同樣，一個活動嘅名字都唔可以代替對內容嘅瞭解。</a:t>
            </a:r>
          </a:p>
          <a:p>
            <a:r>
              <a:t>3. 問：活動係咪涉及招魂、占卜、刻意驚嚇或唔安全行為？我係咪真心願意，仲係怕被排斥？</a:t>
            </a:r>
          </a:p>
          <a:p>
            <a:r>
              <a:t>4. 可以問詳情、拒絕某些內容，或提出其他聚會方式。</a:t>
            </a:r>
          </a:p>
          <a:p/>
          <a:p>
            <a:r>
              <a:t>轉去下一頁：當別人都去，而我想講唔，需要哪一種勇氣？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剛強、仁愛、謹守</a:t>
            </a:r>
          </a:p>
          <a:p>
            <a:r>
              <a:t>專題講解｜10–25 分鐘</a:t>
            </a:r>
          </a:p>
          <a:p>
            <a:r>
              <a:t>呢頁建議：2.5 分鐘</a:t>
            </a:r>
          </a:p>
          <a:p>
            <a:r>
              <a:t>呢頁重點：用提摩太後書 1:7 鼓勵有勇氣、有愛心、有自制嘅回應。</a:t>
            </a:r>
          </a:p>
          <a:p/>
          <a:p>
            <a:r>
              <a:t>導師可以咁講：</a:t>
            </a:r>
          </a:p>
          <a:p>
            <a:r>
              <a:t>1. 讀提摩太後書 1:7。神所賜嘅，唔係膽怯嘅心。</a:t>
            </a:r>
          </a:p>
          <a:p>
            <a:r>
              <a:t>2. 剛強：可以表明自己嘅界線；仁愛：語氣溫柔，唔批評朋友；謹守：照顧安全同身心。</a:t>
            </a:r>
          </a:p>
          <a:p>
            <a:r>
              <a:t>3. 覺得驚唔代表信心唔足；可以搵信任嘅大人傾嚇，唔使硬撐。</a:t>
            </a:r>
          </a:p>
          <a:p>
            <a:r>
              <a:t>4. 我哋唔需要靠嚇人去證明勇敢，亦唔使靠嘲笑別人去證明自己啱。</a:t>
            </a:r>
          </a:p>
          <a:p/>
          <a:p>
            <a:r>
              <a:t>轉去下一頁：把三個角度，變成一次具體嘅生活選擇。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一個邀請，三個分辨</a:t>
            </a:r>
          </a:p>
          <a:p>
            <a:r>
              <a:t>專題講解｜10–25 分鐘</a:t>
            </a:r>
          </a:p>
          <a:p>
            <a:r>
              <a:t>呢頁建議：2 分鐘</a:t>
            </a:r>
          </a:p>
          <a:p>
            <a:r>
              <a:t>呢頁重點：示範唔憑節日名稱判斷、而係查看內容同提出替代方案。</a:t>
            </a:r>
          </a:p>
          <a:p/>
          <a:p>
            <a:r>
              <a:t>導師可以咁講：</a:t>
            </a:r>
          </a:p>
          <a:p>
            <a:r>
              <a:t>1. 遇到派對邀請，先問清楚內容，唔使急住答應或責備對方。</a:t>
            </a:r>
          </a:p>
          <a:p>
            <a:r>
              <a:t>2. 如果有招魂、占卜、恐怖驚嚇或令你唔安嘅內容，可以拒絕並講清楚自己嘅界線。</a:t>
            </a:r>
          </a:p>
          <a:p>
            <a:r>
              <a:t>3. 本次聚會選擇光明派對：用點心、鼓勵和祝福，保留友誼同喜樂。</a:t>
            </a:r>
          </a:p>
          <a:p>
            <a:r>
              <a:t>4. 尊重唔同教會和家庭嘅規範；有疑問時，同家長、導師一起分辨。</a:t>
            </a:r>
          </a:p>
          <a:p/>
          <a:p>
            <a:r>
              <a:t>轉去下一頁：而家交給小組，聽聽你哋真實嘅想法。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真實講，都好好聽</a:t>
            </a:r>
          </a:p>
          <a:p>
            <a:r>
              <a:t>小組討論｜25–40 分鐘</a:t>
            </a:r>
          </a:p>
          <a:p>
            <a:r>
              <a:t>呢頁建議：1 分鐘</a:t>
            </a:r>
          </a:p>
          <a:p>
            <a:r>
              <a:t>呢頁重點：建立 4–6 人討論嘅安全規則及時間安排。</a:t>
            </a:r>
          </a:p>
          <a:p/>
          <a:p>
            <a:r>
              <a:t>導師可以咁講：</a:t>
            </a:r>
          </a:p>
          <a:p>
            <a:r>
              <a:t>1. 每組 4–6 人，由一位導師引導；請大家圍坐並搵一位自願分享者。</a:t>
            </a:r>
          </a:p>
          <a:p>
            <a:r>
              <a:t>2. 可以選擇先聆聽，唔追問私人經歷；唔嘲笑、唔打斷，唔把別組嘅分享當笑話。</a:t>
            </a:r>
          </a:p>
          <a:p>
            <a:r>
              <a:t>3. 下一頁三題共討論約 11 分鐘；最後用約 1.5 分鐘練習一句回應。</a:t>
            </a:r>
          </a:p>
          <a:p>
            <a:r>
              <a:t>4. 如果出現安全或求助訊息，導師需依教會嘅兒少保護程序處理，唔承諾絕對保密。</a:t>
            </a:r>
          </a:p>
          <a:p/>
          <a:p>
            <a:r>
              <a:t>轉去下一頁：三個問題，從同學嘅邀請聊到我哋嘅行動。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你會點樣選擇？</a:t>
            </a:r>
          </a:p>
          <a:p>
            <a:r>
              <a:t>小組討論｜25–40 分鐘</a:t>
            </a:r>
          </a:p>
          <a:p>
            <a:r>
              <a:t>呢頁建議：11 分鐘</a:t>
            </a:r>
          </a:p>
          <a:p>
            <a:r>
              <a:t>呢頁重點：等青少年講出同儕壓力、文化觀察和替代活動嘅想法。</a:t>
            </a:r>
          </a:p>
          <a:p/>
          <a:p>
            <a:r>
              <a:t>導師可以咁講：</a:t>
            </a:r>
          </a:p>
          <a:p>
            <a:r>
              <a:t>1. 第一題約 4 分鐘：朋友邀請你參加萬聖節派對或扮鬼活動，你最擔心乜嘢？你會點樣回應？</a:t>
            </a:r>
          </a:p>
          <a:p>
            <a:r>
              <a:t>2. 第二題約 3 分鐘：商家點樣把恐怖包裝成娛樂？哪些內容有趣，哪些等你唔舒服？唔好假定每個人想法相同。</a:t>
            </a:r>
          </a:p>
          <a:p>
            <a:r>
              <a:t>3. 第三題約 4 分鐘：如果唔討糖果或扮鬼，可以用乜嘢有意義又好玩嘅方式度過呢一天？</a:t>
            </a:r>
          </a:p>
          <a:p>
            <a:r>
              <a:t>4. 等每人有機會講嘢；導師多聽、少講，唔使急住給標準答案。</a:t>
            </a:r>
          </a:p>
          <a:p/>
          <a:p>
            <a:r>
              <a:t>轉去下一頁：試着把想法縮成一句，等朋友聽得懂。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有界線，都有友誼</a:t>
            </a:r>
          </a:p>
          <a:p>
            <a:r>
              <a:t>小組討論｜25–40 分鐘</a:t>
            </a:r>
          </a:p>
          <a:p>
            <a:r>
              <a:t>呢頁建議：1.5 分鐘</a:t>
            </a:r>
          </a:p>
          <a:p>
            <a:r>
              <a:t>呢頁重點：提供唔羞辱朋友、又能清楚拒絕嘅語句，等青少年練習。</a:t>
            </a:r>
          </a:p>
          <a:p/>
          <a:p>
            <a:r>
              <a:t>導師可以咁講：</a:t>
            </a:r>
          </a:p>
          <a:p>
            <a:r>
              <a:t>1. 邀請兩人一組，一人扮邀請嘅朋友，一人練習回應；再交換角色。</a:t>
            </a:r>
          </a:p>
          <a:p>
            <a:r>
              <a:t>2. 示範：「多謝你邀請我！我唔參加扮鬼或招魂活動，不過我想同你一齊玩。不如來光明派對？」</a:t>
            </a:r>
          </a:p>
          <a:p>
            <a:r>
              <a:t>3. 可以按自己嘅講嘢方式修改；重點係感謝、界線、替代方案。</a:t>
            </a:r>
          </a:p>
          <a:p>
            <a:r>
              <a:t>4. 如果朋友持續施壓或嘲笑，唔使爭辯；可以離開對話並搵導師或家長幫手。</a:t>
            </a:r>
          </a:p>
          <a:p/>
          <a:p>
            <a:r>
              <a:t>轉去下一頁：我哋唔只做出選擇，都一起把需要帶到神面前。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唔係少一點樂趣，係多一點光</a:t>
            </a:r>
          </a:p>
          <a:p>
            <a:r>
              <a:t>回應同禱告｜40–50 分鐘</a:t>
            </a:r>
          </a:p>
          <a:p>
            <a:r>
              <a:t>呢頁建議：1 分鐘</a:t>
            </a:r>
          </a:p>
          <a:p>
            <a:r>
              <a:t>呢頁重點：以生命、和平和祝福總結，唔以恐懼或敵意呼召。</a:t>
            </a:r>
          </a:p>
          <a:p/>
          <a:p>
            <a:r>
              <a:t>導師可以咁講：</a:t>
            </a:r>
          </a:p>
          <a:p>
            <a:r>
              <a:t>1. 今日唔係要剝奪大家嘅樂趣，而係學習選擇成為點亮光芒嘅人。</a:t>
            </a:r>
          </a:p>
          <a:p>
            <a:r>
              <a:t>2. 我哋可以唔參加唔合信仰或良心嘅內容，同時保留對朋友嘅愛和尊重。</a:t>
            </a:r>
          </a:p>
          <a:p>
            <a:r>
              <a:t>3. 當文化強調恐怖時，我哋可以主動傳遞生命、和平同喜樂。</a:t>
            </a:r>
          </a:p>
          <a:p/>
          <a:p>
            <a:r>
              <a:t>轉去下一頁：三段經文，帶走三個提醒。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帶走三句提醒</a:t>
            </a:r>
          </a:p>
          <a:p>
            <a:r>
              <a:t>回應同禱告｜40–50 分鐘</a:t>
            </a:r>
          </a:p>
          <a:p>
            <a:r>
              <a:t>呢頁建議：2 分鐘</a:t>
            </a:r>
          </a:p>
          <a:p>
            <a:r>
              <a:t>呢頁重點：重溫經文主題，等青少年選一項今日要實踐嘅提醒。</a:t>
            </a:r>
          </a:p>
          <a:p/>
          <a:p>
            <a:r>
              <a:t>導師可以咁講：</a:t>
            </a:r>
          </a:p>
          <a:p>
            <a:r>
              <a:t>1. 呢頁係經文主題摘要，唔係逐字引文；完整引文在前面嘅經文頁。</a:t>
            </a:r>
          </a:p>
          <a:p>
            <a:r>
              <a:t>2. 約翰福音 8:12：跟從耶穌，帶出生命嘅光；羅馬書 12:2：心意更新，學習分辨。</a:t>
            </a:r>
          </a:p>
          <a:p>
            <a:r>
              <a:t>3. 提摩太後書 1:7：剛強、仁愛、謹守；唔使用恐懼作決定。</a:t>
            </a:r>
          </a:p>
          <a:p>
            <a:r>
              <a:t>4. 請大家默想：今日最想帶走哪一句？心裏選一項就可以，唔使公開表態。</a:t>
            </a:r>
          </a:p>
          <a:p/>
          <a:p>
            <a:r>
              <a:t>轉去下一頁：安靜一下，用禱告回應。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求祢幫我哋成為別人嘅祝福</a:t>
            </a:r>
          </a:p>
          <a:p>
            <a:r>
              <a:t>回應同禱告｜40–50 分鐘</a:t>
            </a:r>
          </a:p>
          <a:p>
            <a:r>
              <a:t>呢頁建議：3 分鐘</a:t>
            </a:r>
          </a:p>
          <a:p>
            <a:r>
              <a:t>呢頁重點：提供修正後、可直接帶領嘅結束禱告。</a:t>
            </a:r>
          </a:p>
          <a:p/>
          <a:p>
            <a:r>
              <a:t>導師可以咁講：</a:t>
            </a:r>
          </a:p>
          <a:p>
            <a:r>
              <a:t>1. 先留返片刻安靜；邀請大家用自己舒適嘅姿勢禱告，都可以安靜聆聽。</a:t>
            </a:r>
          </a:p>
          <a:p>
            <a:r>
              <a:t>2. 親愛嘅天父，謝謝祢召喚我哋成為光明嘅兒女。面對唔同文化潮流，求祢賜給我哋智慧去分辨，勇氣去堅持合宜嘅選擇，都賜給我哋愛心去尊重身邊嘅人。</a:t>
            </a:r>
          </a:p>
          <a:p>
            <a:r>
              <a:t>3. 當我哋面對同儕壓力或心裏唔安，求祢幫助我哋記住：祢所賜嘅係剛強、仁愛、謹守嘅心。等我哋用祢嘅愛同喜樂祝福朋友，成為帶來希望嘅人。</a:t>
            </a:r>
          </a:p>
          <a:p>
            <a:r>
              <a:t>4. 禱告奉耶穌基督嘅名求，阿門。原稿「耶穌水晶」已修正為「耶穌基督」。</a:t>
            </a:r>
          </a:p>
          <a:p/>
          <a:p>
            <a:r>
              <a:t>轉去下一頁：如果你願意，都可以和身邊一位夥伴彼此代禱。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為一位夥伴，送上禱告</a:t>
            </a:r>
          </a:p>
          <a:p>
            <a:r>
              <a:t>回應同禱告｜40–50 分鐘</a:t>
            </a:r>
          </a:p>
          <a:p>
            <a:r>
              <a:t>呢頁建議：3 分鐘</a:t>
            </a:r>
          </a:p>
          <a:p>
            <a:r>
              <a:t>呢頁重點：用自願、低壓力嘅方式做彼此代禱。</a:t>
            </a:r>
          </a:p>
          <a:p/>
          <a:p>
            <a:r>
              <a:t>導師可以咁講：</a:t>
            </a:r>
          </a:p>
          <a:p>
            <a:r>
              <a:t>1. 兩人一組，自願分享一件想得到支持嘅事，例如同儕壓力或唔知點揀。</a:t>
            </a:r>
          </a:p>
          <a:p>
            <a:r>
              <a:t>2. 約 1 分鐘彼此分享，再各用約 1 分鐘代禱；唔想分享嘅人可安靜默禱。</a:t>
            </a:r>
          </a:p>
          <a:p>
            <a:r>
              <a:t>3. 唔使評論對方，都唔使分享私密經歷；如果有人需要進一步支持，請搵導師。</a:t>
            </a:r>
          </a:p>
          <a:p>
            <a:r>
              <a:t>4. 完結嗰陣提醒大家：我哋唔孤單，可以彼此支持。</a:t>
            </a:r>
          </a:p>
          <a:p/>
          <a:p>
            <a:r>
              <a:t>轉去下一頁：把今日嘅祝福，化成一場有喜樂嘅光明派對。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光明派對，而家開始</a:t>
            </a:r>
          </a:p>
          <a:p>
            <a:r>
              <a:t>光明派對｜50–60 分鐘</a:t>
            </a:r>
          </a:p>
          <a:p>
            <a:r>
              <a:t>呢頁建議：1 分鐘</a:t>
            </a:r>
          </a:p>
          <a:p>
            <a:r>
              <a:t>呢頁重點：清楚介紹光明禮包、點心和祝福卡活動。</a:t>
            </a:r>
          </a:p>
          <a:p/>
          <a:p>
            <a:r>
              <a:t>導師可以咁講：</a:t>
            </a:r>
          </a:p>
          <a:p>
            <a:r>
              <a:t>1. 邀請大家自由交流，領取果汁、零食包或寫有鼓勵經文嘅小禮物。</a:t>
            </a:r>
          </a:p>
          <a:p>
            <a:r>
              <a:t>2. 螢光棒可作裝飾，但唔好拆開或咬破；飲食前留意食物標示和過敏需要。</a:t>
            </a:r>
          </a:p>
          <a:p>
            <a:r>
              <a:t>3. 攞一張卡，寫給一位朋友：一句真誠鼓勵，加上一個你願意做嘅支持行動。</a:t>
            </a:r>
          </a:p>
          <a:p>
            <a:r>
              <a:t>4. 唔使暗房、火焰或恐怖元素，都能一起開心；確保走道和活動空間安全。</a:t>
            </a:r>
          </a:p>
          <a:p/>
          <a:p>
            <a:r>
              <a:t>轉去下一頁：先寫下一束光，再把它帶出去。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寫一張卡，把光帶出去</a:t>
            </a:r>
          </a:p>
          <a:p>
            <a:r>
              <a:t>光明派對｜50–60 分鐘</a:t>
            </a:r>
          </a:p>
          <a:p>
            <a:r>
              <a:t>呢頁建議：7.5 分鐘</a:t>
            </a:r>
          </a:p>
          <a:p>
            <a:r>
              <a:t>呢頁重點：在點心和交流中，完成可送出嘅具體祝福。</a:t>
            </a:r>
          </a:p>
          <a:p/>
          <a:p>
            <a:r>
              <a:t>導師可以咁講：</a:t>
            </a:r>
          </a:p>
          <a:p>
            <a:r>
              <a:t>1. 用約 2 分鐘寫卡，其餘時間自由交流、享用點心和互相鼓勵。</a:t>
            </a:r>
          </a:p>
          <a:p>
            <a:r>
              <a:t>2. 卡片可以寫「多謝你一直陪住我」、「願你今日有平安」或其他真誠嘅講嘢。</a:t>
            </a:r>
          </a:p>
          <a:p>
            <a:r>
              <a:t>3. 可以加一句經文或自己願意做嘅支持行動，例如陪朋友談談、一起溫習。</a:t>
            </a:r>
          </a:p>
          <a:p>
            <a:r>
              <a:t>4. 尊重收卡人嘅信仰和意願，唔以贈送零食或禮物作施壓；唔強迫公開卡片內容。</a:t>
            </a:r>
          </a:p>
          <a:p/>
          <a:p>
            <a:r>
              <a:t>轉去下一頁：聚會快結束了，把今日嘅一個選擇帶進生活。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唔只避開黑暗，更要活出光</a:t>
            </a:r>
          </a:p>
          <a:p>
            <a:r>
              <a:t>光明派對｜50–60 分鐘</a:t>
            </a:r>
          </a:p>
          <a:p>
            <a:r>
              <a:t>呢頁建議：0.4 分鐘</a:t>
            </a:r>
          </a:p>
          <a:p>
            <a:r>
              <a:t>呢頁重點：用一個生活行動結束聚會。</a:t>
            </a:r>
          </a:p>
          <a:p/>
          <a:p>
            <a:r>
              <a:t>導師可以咁講：</a:t>
            </a:r>
          </a:p>
          <a:p>
            <a:r>
              <a:t>1. 感謝大家真實參加；提醒把卡片送給嗰位朋友。</a:t>
            </a:r>
          </a:p>
          <a:p>
            <a:r>
              <a:t>2. 今日可以選擇一個行動：溫柔講出界線、向信任嘅人求助，或鼓勵一位朋友。</a:t>
            </a:r>
          </a:p>
          <a:p>
            <a:r>
              <a:t>3. 祝福大家帶着平安同喜樂離開；如果仲有問題或唔安，聚會後可以搵導師聊聊。</a:t>
            </a:r>
          </a:p>
          <a:p/>
          <a:p>
            <a:r>
              <a:t>轉去下一頁：正常聚會在此結束；下一頁係供導師查閱嘅資料。</a:t>
            </a:r>
          </a:p>
          <a:p>
            <a:r>
              <a:t>時間提示：現場共 60 分鐘；每頁安排共 54 分鐘，留返 6 分鐘彈性。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導師備查及內容簡介</a:t>
            </a:r>
          </a:p>
          <a:p>
            <a:r>
              <a:t>附錄｜唔需投影</a:t>
            </a:r>
          </a:p>
          <a:p>
            <a:r>
              <a:t>呢頁建議：0.1 分鐘</a:t>
            </a:r>
          </a:p>
          <a:p>
            <a:r>
              <a:t>呢頁重點：儲存歷史來源、經文出處及本次聚會嘅立場界線。</a:t>
            </a:r>
          </a:p>
          <a:p/>
          <a:p>
            <a:r>
              <a:t>導師可以咁講：</a:t>
            </a:r>
          </a:p>
          <a:p>
            <a:r>
              <a:t>1. 呢頁係導師附錄，唔使在正常聚會逐項講解。</a:t>
            </a:r>
          </a:p>
          <a:p>
            <a:r>
              <a:t>2. 歷史概述參考 HISTORY 嘅 History of Halloween；唔同民俗之間嘅具體關係仲有學者討論，唔會宣稱只有單一起源。</a:t>
            </a:r>
          </a:p>
          <a:p>
            <a:r>
              <a:t>3. 經文採用使用者提供嘅和合本用語；三句帶走提醒頁標示為主題摘要，唔係逐字引文。</a:t>
            </a:r>
          </a:p>
          <a:p>
            <a:r>
              <a:t>4. 唔把所有基督徒、教會或萬聖節參加者一概而論；按實際活動內容、信仰、良心及家庭規範分辨。</a:t>
            </a:r>
          </a:p>
          <a:p/>
          <a:p>
            <a:r>
              <a:t>轉去下一頁：如需查閱來源，可點擊呢頁連結。</a:t>
            </a:r>
          </a:p>
          <a:p>
            <a:r>
              <a:t>時間提示：現場共 60 分鐘；每頁安排共 54 分鐘，留返 6 分鐘彈性。</a:t>
            </a:r>
          </a:p>
          <a:p/>
          <a:p>
            <a:r>
              <a:t>歷史概述參考：https://www.history.com/articles/history-of-halloween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story.com/articles/history-of-halloween" TargetMode="Externa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story.com/articles/history-of-halloween" TargetMode="External"/><Relationship Id="rId3" Type="http://schemas.openxmlformats.org/officeDocument/2006/relationships/hyperlink" Target="https://github.com/op7418/guizang-ppt-skill" TargetMode="Externa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01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01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破冰遊戲｜00–1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破冰遊戲｜00–10 分鐘</a:t>
            </a:r>
          </a:p>
        </p:txBody>
      </p:sp>
      <p:sp>
        <p:nvSpPr>
          <p:cNvPr id="7" name="Text: 一場關於文化、信仰同選擇嘅聚會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D8B78F"/>
                </a:solidFill>
                <a:latin typeface="Microsoft JhengHei"/>
                <a:ea typeface="Microsoft JhengHei"/>
              </a:rPr>
              <a:t>一場關於文化、信仰同選擇嘅聚會</a:t>
            </a:r>
          </a:p>
        </p:txBody>
      </p:sp>
      <p:sp>
        <p:nvSpPr>
          <p:cNvPr id="8" name="Text: 選擇光明&#10;活出喜樂"/>
          <p:cNvSpPr txBox="1"/>
          <p:nvPr/>
        </p:nvSpPr>
        <p:spPr>
          <a:xfrm>
            <a:off x="731520" y="1965960"/>
            <a:ext cx="754380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lang="zh-HK">
                <a:solidFill>
                  <a:srgbClr val="EEDFC7"/>
                </a:solidFill>
                <a:latin typeface="PMingLiU"/>
                <a:ea typeface="PMingLiU"/>
              </a:rPr>
              <a:t>選擇光明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lang="zh-HK">
                <a:solidFill>
                  <a:srgbClr val="EEDFC7"/>
                </a:solidFill>
                <a:latin typeface="PMingLiU"/>
                <a:ea typeface="PMingLiU"/>
              </a:rPr>
              <a:t>活出喜樂</a:t>
            </a:r>
          </a:p>
        </p:txBody>
      </p:sp>
      <p:sp>
        <p:nvSpPr>
          <p:cNvPr id="9" name="Text: 萬聖節文化 × 信仰分辨 × 同儕壓力"/>
          <p:cNvSpPr txBox="1"/>
          <p:nvPr/>
        </p:nvSpPr>
        <p:spPr>
          <a:xfrm>
            <a:off x="731520" y="4416552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EEDFC7"/>
                </a:solidFill>
                <a:latin typeface="Microsoft JhengHei"/>
                <a:ea typeface="Microsoft JhengHei"/>
              </a:rPr>
              <a:t>萬聖節文化 × 信仰分辨 × 同儕壓力</a:t>
            </a:r>
          </a:p>
        </p:txBody>
      </p:sp>
      <p:sp>
        <p:nvSpPr>
          <p:cNvPr id="10" name="Text: 60 分鐘  /  青少年聚會  /  光明派對"/>
          <p:cNvSpPr txBox="1"/>
          <p:nvPr/>
        </p:nvSpPr>
        <p:spPr>
          <a:xfrm>
            <a:off x="731520" y="5166360"/>
            <a:ext cx="740664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60 分鐘  /  青少年聚會  /  光明派對</a:t>
            </a:r>
          </a:p>
        </p:txBody>
      </p:sp>
      <p:sp>
        <p:nvSpPr>
          <p:cNvPr id="11" name="Oval 10"/>
          <p:cNvSpPr/>
          <p:nvPr/>
        </p:nvSpPr>
        <p:spPr>
          <a:xfrm>
            <a:off x="8549640" y="1828800"/>
            <a:ext cx="2423160" cy="2423160"/>
          </a:xfrm>
          <a:prstGeom prst="ellipse">
            <a:avLst/>
          </a:prstGeom>
          <a:noFill/>
          <a:ln w="10160">
            <a:solidFill>
              <a:srgbClr val="776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75904" y="1655064"/>
            <a:ext cx="2770632" cy="2770632"/>
          </a:xfrm>
          <a:prstGeom prst="ellipse">
            <a:avLst/>
          </a:prstGeom>
          <a:noFill/>
          <a:ln w="10160">
            <a:solidFill>
              <a:srgbClr val="776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02167" y="1481328"/>
            <a:ext cx="3118104" cy="3118104"/>
          </a:xfrm>
          <a:prstGeom prst="ellipse">
            <a:avLst/>
          </a:prstGeom>
          <a:noFill/>
          <a:ln w="10160">
            <a:solidFill>
              <a:srgbClr val="776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81160" y="2560320"/>
            <a:ext cx="960119" cy="960119"/>
          </a:xfrm>
          <a:prstGeom prst="ellipse">
            <a:avLst/>
          </a:prstGeom>
          <a:solidFill>
            <a:srgbClr val="D8B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0536631" y="3040380"/>
            <a:ext cx="170590" cy="0"/>
          </a:xfrm>
          <a:prstGeom prst="line">
            <a:avLst/>
          </a:prstGeom>
          <a:ln w="17780">
            <a:solidFill>
              <a:srgbClr val="D8B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09518" y="3588678"/>
            <a:ext cx="120626" cy="120626"/>
          </a:xfrm>
          <a:prstGeom prst="line">
            <a:avLst/>
          </a:prstGeom>
          <a:ln w="17780">
            <a:solidFill>
              <a:srgbClr val="D8B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61219" y="3815791"/>
            <a:ext cx="0" cy="170590"/>
          </a:xfrm>
          <a:prstGeom prst="line">
            <a:avLst/>
          </a:prstGeom>
          <a:ln w="17780">
            <a:solidFill>
              <a:srgbClr val="D8B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092295" y="3588678"/>
            <a:ext cx="120626" cy="120626"/>
          </a:xfrm>
          <a:prstGeom prst="line">
            <a:avLst/>
          </a:prstGeom>
          <a:ln w="17780">
            <a:solidFill>
              <a:srgbClr val="D8B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815218" y="3040380"/>
            <a:ext cx="170590" cy="0"/>
          </a:xfrm>
          <a:prstGeom prst="line">
            <a:avLst/>
          </a:prstGeom>
          <a:ln w="17780">
            <a:solidFill>
              <a:srgbClr val="D8B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9092295" y="2371455"/>
            <a:ext cx="120626" cy="120626"/>
          </a:xfrm>
          <a:prstGeom prst="line">
            <a:avLst/>
          </a:prstGeom>
          <a:ln w="17780">
            <a:solidFill>
              <a:srgbClr val="D8B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761219" y="2094378"/>
            <a:ext cx="0" cy="170590"/>
          </a:xfrm>
          <a:prstGeom prst="line">
            <a:avLst/>
          </a:prstGeom>
          <a:ln w="17780">
            <a:solidFill>
              <a:srgbClr val="D8B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309518" y="2371455"/>
            <a:ext cx="120626" cy="120626"/>
          </a:xfrm>
          <a:prstGeom prst="line">
            <a:avLst/>
          </a:prstGeom>
          <a:ln w="17780">
            <a:solidFill>
              <a:srgbClr val="D8B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: LIGHT&#10;PARTY"/>
          <p:cNvSpPr txBox="1"/>
          <p:nvPr/>
        </p:nvSpPr>
        <p:spPr>
          <a:xfrm>
            <a:off x="8394192" y="491947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HK">
                <a:solidFill>
                  <a:srgbClr val="EEDFC7"/>
                </a:solidFill>
                <a:latin typeface="PMingLiU"/>
                <a:ea typeface="PMingLiU"/>
              </a:rPr>
              <a:t>LIGHT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HK">
                <a:solidFill>
                  <a:srgbClr val="EEDFC7"/>
                </a:solidFill>
                <a:latin typeface="PMingLiU"/>
                <a:ea typeface="PMingLiU"/>
              </a:rPr>
              <a:t>PARTY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02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02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破冰遊戲｜00–1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破冰遊戲｜00–10 分鐘</a:t>
            </a:r>
          </a:p>
        </p:txBody>
      </p:sp>
      <p:sp>
        <p:nvSpPr>
          <p:cNvPr id="7" name="Text: TODAY'S ROUTE"/>
          <p:cNvSpPr txBox="1"/>
          <p:nvPr/>
        </p:nvSpPr>
        <p:spPr>
          <a:xfrm>
            <a:off x="731520" y="9875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TODAY'S ROUTE</a:t>
            </a:r>
          </a:p>
        </p:txBody>
      </p:sp>
      <p:sp>
        <p:nvSpPr>
          <p:cNvPr id="8" name="Text: 一小時，一起走向光"/>
          <p:cNvSpPr txBox="1"/>
          <p:nvPr/>
        </p:nvSpPr>
        <p:spPr>
          <a:xfrm>
            <a:off x="731520" y="1572768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zh-HK">
                <a:solidFill>
                  <a:srgbClr val="2A1E13"/>
                </a:solidFill>
                <a:latin typeface="PMingLiU"/>
                <a:ea typeface="PMingLiU"/>
              </a:rPr>
              <a:t>一小時，一起走向光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660904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: 00–10"/>
          <p:cNvSpPr txBox="1"/>
          <p:nvPr/>
        </p:nvSpPr>
        <p:spPr>
          <a:xfrm>
            <a:off x="731520" y="2779776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00–10</a:t>
            </a:r>
          </a:p>
        </p:txBody>
      </p:sp>
      <p:sp>
        <p:nvSpPr>
          <p:cNvPr id="11" name="Text: 破冰遊戲"/>
          <p:cNvSpPr txBox="1"/>
          <p:nvPr/>
        </p:nvSpPr>
        <p:spPr>
          <a:xfrm>
            <a:off x="2560320" y="277977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HK">
                <a:solidFill>
                  <a:srgbClr val="2A1E13"/>
                </a:solidFill>
                <a:latin typeface="PMingLiU"/>
                <a:ea typeface="PMingLiU"/>
              </a:rPr>
              <a:t>破冰遊戲</a:t>
            </a:r>
          </a:p>
        </p:txBody>
      </p:sp>
      <p:sp>
        <p:nvSpPr>
          <p:cNvPr id="12" name="Text: 真假萬聖節大挑戰"/>
          <p:cNvSpPr txBox="1"/>
          <p:nvPr/>
        </p:nvSpPr>
        <p:spPr>
          <a:xfrm>
            <a:off x="5193792" y="2779776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真假萬聖節大挑戰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227832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 10–25"/>
          <p:cNvSpPr txBox="1"/>
          <p:nvPr/>
        </p:nvSpPr>
        <p:spPr>
          <a:xfrm>
            <a:off x="731520" y="3346704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10–25</a:t>
            </a:r>
          </a:p>
        </p:txBody>
      </p:sp>
      <p:sp>
        <p:nvSpPr>
          <p:cNvPr id="15" name="Text: 專題講解"/>
          <p:cNvSpPr txBox="1"/>
          <p:nvPr/>
        </p:nvSpPr>
        <p:spPr>
          <a:xfrm>
            <a:off x="2560320" y="334670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HK">
                <a:solidFill>
                  <a:srgbClr val="2A1E13"/>
                </a:solidFill>
                <a:latin typeface="PMingLiU"/>
                <a:ea typeface="PMingLiU"/>
              </a:rPr>
              <a:t>專題講解</a:t>
            </a:r>
          </a:p>
        </p:txBody>
      </p:sp>
      <p:sp>
        <p:nvSpPr>
          <p:cNvPr id="16" name="Text: 歷史背景同三個信仰視角"/>
          <p:cNvSpPr txBox="1"/>
          <p:nvPr/>
        </p:nvSpPr>
        <p:spPr>
          <a:xfrm>
            <a:off x="5193792" y="3346704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歷史背景同三個信仰視角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379476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: 25–40"/>
          <p:cNvSpPr txBox="1"/>
          <p:nvPr/>
        </p:nvSpPr>
        <p:spPr>
          <a:xfrm>
            <a:off x="731520" y="39136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25–40</a:t>
            </a:r>
          </a:p>
        </p:txBody>
      </p:sp>
      <p:sp>
        <p:nvSpPr>
          <p:cNvPr id="19" name="Text: 小組討論"/>
          <p:cNvSpPr txBox="1"/>
          <p:nvPr/>
        </p:nvSpPr>
        <p:spPr>
          <a:xfrm>
            <a:off x="2560320" y="391363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HK">
                <a:solidFill>
                  <a:srgbClr val="2A1E13"/>
                </a:solidFill>
                <a:latin typeface="PMingLiU"/>
                <a:ea typeface="PMingLiU"/>
              </a:rPr>
              <a:t>小組討論</a:t>
            </a:r>
          </a:p>
        </p:txBody>
      </p:sp>
      <p:sp>
        <p:nvSpPr>
          <p:cNvPr id="20" name="Text: 同儕壓力、文化同選擇"/>
          <p:cNvSpPr txBox="1"/>
          <p:nvPr/>
        </p:nvSpPr>
        <p:spPr>
          <a:xfrm>
            <a:off x="5193792" y="3913632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同儕壓力、文化同選擇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4361688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: 40–50"/>
          <p:cNvSpPr txBox="1"/>
          <p:nvPr/>
        </p:nvSpPr>
        <p:spPr>
          <a:xfrm>
            <a:off x="731520" y="4480559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40–50</a:t>
            </a:r>
          </a:p>
        </p:txBody>
      </p:sp>
      <p:sp>
        <p:nvSpPr>
          <p:cNvPr id="23" name="Text: 回應同禱告"/>
          <p:cNvSpPr txBox="1"/>
          <p:nvPr/>
        </p:nvSpPr>
        <p:spPr>
          <a:xfrm>
            <a:off x="2560320" y="4480559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HK">
                <a:solidFill>
                  <a:srgbClr val="2A1E13"/>
                </a:solidFill>
                <a:latin typeface="PMingLiU"/>
                <a:ea typeface="PMingLiU"/>
              </a:rPr>
              <a:t>回應同禱告</a:t>
            </a:r>
          </a:p>
        </p:txBody>
      </p:sp>
      <p:sp>
        <p:nvSpPr>
          <p:cNvPr id="24" name="Text: 經文總結、默想同彼此代禱"/>
          <p:cNvSpPr txBox="1"/>
          <p:nvPr/>
        </p:nvSpPr>
        <p:spPr>
          <a:xfrm>
            <a:off x="5193792" y="4480559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經文總結、默想同彼此代禱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4928616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: 50–60"/>
          <p:cNvSpPr txBox="1"/>
          <p:nvPr/>
        </p:nvSpPr>
        <p:spPr>
          <a:xfrm>
            <a:off x="731520" y="5047488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50–60</a:t>
            </a:r>
          </a:p>
        </p:txBody>
      </p:sp>
      <p:sp>
        <p:nvSpPr>
          <p:cNvPr id="27" name="Text: 光明派對"/>
          <p:cNvSpPr txBox="1"/>
          <p:nvPr/>
        </p:nvSpPr>
        <p:spPr>
          <a:xfrm>
            <a:off x="2560320" y="504748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HK">
                <a:solidFill>
                  <a:srgbClr val="2A1E13"/>
                </a:solidFill>
                <a:latin typeface="PMingLiU"/>
                <a:ea typeface="PMingLiU"/>
              </a:rPr>
              <a:t>光明派對</a:t>
            </a:r>
          </a:p>
        </p:txBody>
      </p:sp>
      <p:sp>
        <p:nvSpPr>
          <p:cNvPr id="28" name="Text: 點心交流、光明禮包同祝福卡"/>
          <p:cNvSpPr txBox="1"/>
          <p:nvPr/>
        </p:nvSpPr>
        <p:spPr>
          <a:xfrm>
            <a:off x="5193792" y="5047488"/>
            <a:ext cx="6263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點心交流、光明禮包同祝福卡</a:t>
            </a:r>
          </a:p>
        </p:txBody>
      </p:sp>
      <p:sp>
        <p:nvSpPr>
          <p:cNvPr id="29" name="Text: 現場 60 分鐘｜逐頁安排 54 分鐘＋6 分鐘彈性"/>
          <p:cNvSpPr txBox="1"/>
          <p:nvPr/>
        </p:nvSpPr>
        <p:spPr>
          <a:xfrm>
            <a:off x="731520" y="5724144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現場 60 分鐘｜逐頁安排 54 分鐘＋6 分鐘彈性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03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03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破冰遊戲｜00–1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破冰遊戲｜00–10 分鐘</a:t>
            </a:r>
          </a:p>
        </p:txBody>
      </p:sp>
      <p:sp>
        <p:nvSpPr>
          <p:cNvPr id="7" name="Text: 先鎖定答案，再揭曉"/>
          <p:cNvSpPr txBox="1"/>
          <p:nvPr/>
        </p:nvSpPr>
        <p:spPr>
          <a:xfrm>
            <a:off x="731520" y="9875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先鎖定答案，再揭曉</a:t>
            </a:r>
          </a:p>
        </p:txBody>
      </p:sp>
      <p:sp>
        <p:nvSpPr>
          <p:cNvPr id="8" name="Text: 真假萬聖節大挑戰"/>
          <p:cNvSpPr txBox="1"/>
          <p:nvPr/>
        </p:nvSpPr>
        <p:spPr>
          <a:xfrm>
            <a:off x="731520" y="1572768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zh-HK">
                <a:solidFill>
                  <a:srgbClr val="EEDFC7"/>
                </a:solidFill>
                <a:latin typeface="PMingLiU"/>
                <a:ea typeface="PMingLiU"/>
              </a:rPr>
              <a:t>真假萬聖節大挑戰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880360"/>
            <a:ext cx="3246119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: 01｜分隊"/>
          <p:cNvSpPr txBox="1"/>
          <p:nvPr/>
        </p:nvSpPr>
        <p:spPr>
          <a:xfrm>
            <a:off x="731520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01｜分隊</a:t>
            </a:r>
          </a:p>
        </p:txBody>
      </p:sp>
      <p:sp>
        <p:nvSpPr>
          <p:cNvPr id="11" name="Text: 光明隊 × 晨光隊"/>
          <p:cNvSpPr txBox="1"/>
          <p:nvPr/>
        </p:nvSpPr>
        <p:spPr>
          <a:xfrm>
            <a:off x="731520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EEDFC7"/>
                </a:solidFill>
                <a:latin typeface="PMingLiU"/>
                <a:ea typeface="PMingLiU"/>
              </a:rPr>
              <a:t>光明隊 × 晨光隊</a:t>
            </a:r>
          </a:p>
        </p:txBody>
      </p:sp>
      <p:sp>
        <p:nvSpPr>
          <p:cNvPr id="12" name="Text: 兩組聽落正面嘅隊名。&#10;一起商量，唔取笑答錯嘅人。"/>
          <p:cNvSpPr txBox="1"/>
          <p:nvPr/>
        </p:nvSpPr>
        <p:spPr>
          <a:xfrm>
            <a:off x="731520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兩組聽落正面嘅隊名。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一起商量，唔取笑答錯嘅人。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71416" y="2880360"/>
            <a:ext cx="324612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 02｜作答"/>
          <p:cNvSpPr txBox="1"/>
          <p:nvPr/>
        </p:nvSpPr>
        <p:spPr>
          <a:xfrm>
            <a:off x="4471416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02｜作答</a:t>
            </a:r>
          </a:p>
        </p:txBody>
      </p:sp>
      <p:sp>
        <p:nvSpPr>
          <p:cNvPr id="15" name="Text: 5 秒內，真或假"/>
          <p:cNvSpPr txBox="1"/>
          <p:nvPr/>
        </p:nvSpPr>
        <p:spPr>
          <a:xfrm>
            <a:off x="4471416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EEDFC7"/>
                </a:solidFill>
                <a:latin typeface="PMingLiU"/>
                <a:ea typeface="PMingLiU"/>
              </a:rPr>
              <a:t>5 秒內，真或假</a:t>
            </a:r>
          </a:p>
        </p:txBody>
      </p:sp>
      <p:sp>
        <p:nvSpPr>
          <p:cNvPr id="16" name="Text: 讀完題目後口數倒數。&#10;用題目卡、手勢或口頭回答。"/>
          <p:cNvSpPr txBox="1"/>
          <p:nvPr/>
        </p:nvSpPr>
        <p:spPr>
          <a:xfrm>
            <a:off x="4471416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讀完題目後口數倒數。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用題目卡、手勢或口頭回答。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11312" y="2880360"/>
            <a:ext cx="324612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: 03｜計分"/>
          <p:cNvSpPr txBox="1"/>
          <p:nvPr/>
        </p:nvSpPr>
        <p:spPr>
          <a:xfrm>
            <a:off x="8211312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03｜計分</a:t>
            </a:r>
          </a:p>
        </p:txBody>
      </p:sp>
      <p:sp>
        <p:nvSpPr>
          <p:cNvPr id="19" name="Text: 答對，得 1 分"/>
          <p:cNvSpPr txBox="1"/>
          <p:nvPr/>
        </p:nvSpPr>
        <p:spPr>
          <a:xfrm>
            <a:off x="8211312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EEDFC7"/>
                </a:solidFill>
                <a:latin typeface="PMingLiU"/>
                <a:ea typeface="PMingLiU"/>
              </a:rPr>
              <a:t>答對，得 1 分</a:t>
            </a:r>
          </a:p>
        </p:txBody>
      </p:sp>
      <p:sp>
        <p:nvSpPr>
          <p:cNvPr id="20" name="Text: 先確認兩隊答案。&#10;下一頁才會揭曉。"/>
          <p:cNvSpPr txBox="1"/>
          <p:nvPr/>
        </p:nvSpPr>
        <p:spPr>
          <a:xfrm>
            <a:off x="8211312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先確認兩隊答案。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下一頁才會揭曉。</a:t>
            </a:r>
          </a:p>
        </p:txBody>
      </p:sp>
      <p:sp>
        <p:nvSpPr>
          <p:cNvPr id="21" name="Text: 重點唔係輸贏，而係一起看見：我哋仲有哪些唔知道？"/>
          <p:cNvSpPr txBox="1"/>
          <p:nvPr/>
        </p:nvSpPr>
        <p:spPr>
          <a:xfrm>
            <a:off x="731520" y="5696712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重點唔係輸贏，而係一起看見：我哋仲有哪些唔知道？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04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04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破冰遊戲｜00–1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破冰遊戲｜00–10 分鐘</a:t>
            </a:r>
          </a:p>
        </p:txBody>
      </p:sp>
      <p:sp>
        <p:nvSpPr>
          <p:cNvPr id="7" name="Text: 真假挑戰  /  QUESTION 01"/>
          <p:cNvSpPr txBox="1"/>
          <p:nvPr/>
        </p:nvSpPr>
        <p:spPr>
          <a:xfrm>
            <a:off x="731520" y="11704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HK">
                <a:solidFill>
                  <a:srgbClr val="804212"/>
                </a:solidFill>
                <a:latin typeface="Microsoft JhengHei"/>
                <a:ea typeface="Microsoft JhengHei"/>
              </a:rPr>
              <a:t>真假挑戰  /  QUESTION 01</a:t>
            </a:r>
          </a:p>
        </p:txBody>
      </p:sp>
      <p:sp>
        <p:nvSpPr>
          <p:cNvPr id="8" name="Text: 「Trick or Treat」一開始，&#10;就係為咗攞朱古力？"/>
          <p:cNvSpPr txBox="1"/>
          <p:nvPr/>
        </p:nvSpPr>
        <p:spPr>
          <a:xfrm>
            <a:off x="731520" y="2020824"/>
            <a:ext cx="10744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2A1E13"/>
                </a:solidFill>
                <a:latin typeface="PMingLiU"/>
                <a:ea typeface="PMingLiU"/>
              </a:rPr>
              <a:t>「Trick or Treat」一開始，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2A1E13"/>
                </a:solidFill>
                <a:latin typeface="PMingLiU"/>
                <a:ea typeface="PMingLiU"/>
              </a:rPr>
              <a:t>就係為咗攞朱古力？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29768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: 真 TRUE"/>
          <p:cNvSpPr txBox="1"/>
          <p:nvPr/>
        </p:nvSpPr>
        <p:spPr>
          <a:xfrm>
            <a:off x="731520" y="459028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lang="zh-HK">
                <a:solidFill>
                  <a:srgbClr val="2A1E13"/>
                </a:solidFill>
                <a:latin typeface="PMingLiU"/>
                <a:ea typeface="PMingLiU"/>
              </a:rPr>
              <a:t>真 TRUE</a:t>
            </a:r>
          </a:p>
        </p:txBody>
      </p:sp>
      <p:sp>
        <p:nvSpPr>
          <p:cNvPr id="11" name="Text: 仲係"/>
          <p:cNvSpPr txBox="1"/>
          <p:nvPr/>
        </p:nvSpPr>
        <p:spPr>
          <a:xfrm>
            <a:off x="5230368" y="4800600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仲係</a:t>
            </a:r>
          </a:p>
        </p:txBody>
      </p:sp>
      <p:sp>
        <p:nvSpPr>
          <p:cNvPr id="12" name="Text: 假 FALSE"/>
          <p:cNvSpPr txBox="1"/>
          <p:nvPr/>
        </p:nvSpPr>
        <p:spPr>
          <a:xfrm>
            <a:off x="7790688" y="459028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lang="zh-HK">
                <a:solidFill>
                  <a:srgbClr val="2A1E13"/>
                </a:solidFill>
                <a:latin typeface="PMingLiU"/>
                <a:ea typeface="PMingLiU"/>
              </a:rPr>
              <a:t>假 FALSE</a:t>
            </a:r>
          </a:p>
        </p:txBody>
      </p:sp>
      <p:sp>
        <p:nvSpPr>
          <p:cNvPr id="13" name="Text: 5 秒商量 → 鎖定答案 → 翻頁揭曉"/>
          <p:cNvSpPr txBox="1"/>
          <p:nvPr/>
        </p:nvSpPr>
        <p:spPr>
          <a:xfrm>
            <a:off x="731520" y="5596128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5 秒商量 → 鎖定答案 → 翻頁揭曉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05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05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破冰遊戲｜00–1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破冰遊戲｜00–10 分鐘</a:t>
            </a:r>
          </a:p>
        </p:txBody>
      </p:sp>
      <p:sp>
        <p:nvSpPr>
          <p:cNvPr id="7" name="Text: 答案揭曉"/>
          <p:cNvSpPr txBox="1"/>
          <p:nvPr/>
        </p:nvSpPr>
        <p:spPr>
          <a:xfrm>
            <a:off x="731520" y="1143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HK">
                <a:solidFill>
                  <a:srgbClr val="804212"/>
                </a:solidFill>
                <a:latin typeface="Microsoft JhengHei"/>
                <a:ea typeface="Microsoft JhengHei"/>
              </a:rPr>
              <a:t>答案揭曉</a:t>
            </a:r>
          </a:p>
        </p:txBody>
      </p:sp>
      <p:sp>
        <p:nvSpPr>
          <p:cNvPr id="8" name="Text: 假"/>
          <p:cNvSpPr txBox="1"/>
          <p:nvPr/>
        </p:nvSpPr>
        <p:spPr>
          <a:xfrm>
            <a:off x="731520" y="1947672"/>
            <a:ext cx="320040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0" lang="zh-HK">
                <a:solidFill>
                  <a:srgbClr val="804212"/>
                </a:solidFill>
                <a:latin typeface="PMingLiU"/>
                <a:ea typeface="PMingLiU"/>
              </a:rPr>
              <a:t>假</a:t>
            </a:r>
          </a:p>
        </p:txBody>
      </p:sp>
      <p:sp>
        <p:nvSpPr>
          <p:cNvPr id="9" name="Text: 唔只朱古力，&#10;都唔只一種起源。"/>
          <p:cNvSpPr txBox="1"/>
          <p:nvPr/>
        </p:nvSpPr>
        <p:spPr>
          <a:xfrm>
            <a:off x="3886200" y="1810512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2A1E13"/>
                </a:solidFill>
                <a:latin typeface="PMingLiU"/>
                <a:ea typeface="PMingLiU"/>
              </a:rPr>
              <a:t>唔只朱古力，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2A1E13"/>
                </a:solidFill>
                <a:latin typeface="PMingLiU"/>
                <a:ea typeface="PMingLiU"/>
              </a:rPr>
              <a:t>都唔只一種起源。</a:t>
            </a:r>
          </a:p>
        </p:txBody>
      </p:sp>
      <p:sp>
        <p:nvSpPr>
          <p:cNvPr id="10" name="Text: 相關前身包括祈禱換取「靈魂餅」，&#10;同埋裝扮表演換取食物或小禮物。"/>
          <p:cNvSpPr txBox="1"/>
          <p:nvPr/>
        </p:nvSpPr>
        <p:spPr>
          <a:xfrm>
            <a:off x="3886200" y="3639312"/>
            <a:ext cx="7315200" cy="1581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相關前身包括祈禱換取「靈魂餅」，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同埋裝扮表演換取食物或小禮物。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現代討糖果由多種習俗慢慢演變。</a:t>
            </a:r>
          </a:p>
        </p:txBody>
      </p:sp>
      <p:sp>
        <p:nvSpPr>
          <p:cNvPr id="11" name="Text: 歷史參考：HISTORY｜History of Hallowee"/>
          <p:cNvSpPr txBox="1"/>
          <p:nvPr/>
        </p:nvSpPr>
        <p:spPr>
          <a:xfrm>
            <a:off x="731520" y="574243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歷史參考：HISTORY｜History of Halloween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06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06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破冰遊戲｜00–1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破冰遊戲｜00–10 分鐘</a:t>
            </a:r>
          </a:p>
        </p:txBody>
      </p:sp>
      <p:sp>
        <p:nvSpPr>
          <p:cNvPr id="7" name="Text: 真假挑戰  /  QUESTION 02"/>
          <p:cNvSpPr txBox="1"/>
          <p:nvPr/>
        </p:nvSpPr>
        <p:spPr>
          <a:xfrm>
            <a:off x="731520" y="11704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HK">
                <a:solidFill>
                  <a:srgbClr val="D8B78F"/>
                </a:solidFill>
                <a:latin typeface="Microsoft JhengHei"/>
                <a:ea typeface="Microsoft JhengHei"/>
              </a:rPr>
              <a:t>真假挑戰  /  QUESTION 02</a:t>
            </a:r>
          </a:p>
        </p:txBody>
      </p:sp>
      <p:sp>
        <p:nvSpPr>
          <p:cNvPr id="8" name="Text: Jack-o'-lantern，&#10;最早就係用南瓜做嘅？"/>
          <p:cNvSpPr txBox="1"/>
          <p:nvPr/>
        </p:nvSpPr>
        <p:spPr>
          <a:xfrm>
            <a:off x="731520" y="2020824"/>
            <a:ext cx="10744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EEDFC7"/>
                </a:solidFill>
                <a:latin typeface="PMingLiU"/>
                <a:ea typeface="PMingLiU"/>
              </a:rPr>
              <a:t>Jack-o'-lantern，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EEDFC7"/>
                </a:solidFill>
                <a:latin typeface="PMingLiU"/>
                <a:ea typeface="PMingLiU"/>
              </a:rPr>
              <a:t>最早就係用南瓜做嘅？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29768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: 真 TRUE"/>
          <p:cNvSpPr txBox="1"/>
          <p:nvPr/>
        </p:nvSpPr>
        <p:spPr>
          <a:xfrm>
            <a:off x="731520" y="459028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lang="zh-HK">
                <a:solidFill>
                  <a:srgbClr val="EEDFC7"/>
                </a:solidFill>
                <a:latin typeface="PMingLiU"/>
                <a:ea typeface="PMingLiU"/>
              </a:rPr>
              <a:t>真 TRUE</a:t>
            </a:r>
          </a:p>
        </p:txBody>
      </p:sp>
      <p:sp>
        <p:nvSpPr>
          <p:cNvPr id="11" name="Text: 仲係"/>
          <p:cNvSpPr txBox="1"/>
          <p:nvPr/>
        </p:nvSpPr>
        <p:spPr>
          <a:xfrm>
            <a:off x="5230368" y="4800600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仲係</a:t>
            </a:r>
          </a:p>
        </p:txBody>
      </p:sp>
      <p:sp>
        <p:nvSpPr>
          <p:cNvPr id="12" name="Text: 假 FALSE"/>
          <p:cNvSpPr txBox="1"/>
          <p:nvPr/>
        </p:nvSpPr>
        <p:spPr>
          <a:xfrm>
            <a:off x="7790688" y="459028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lang="zh-HK">
                <a:solidFill>
                  <a:srgbClr val="EEDFC7"/>
                </a:solidFill>
                <a:latin typeface="PMingLiU"/>
                <a:ea typeface="PMingLiU"/>
              </a:rPr>
              <a:t>假 FALSE</a:t>
            </a:r>
          </a:p>
        </p:txBody>
      </p:sp>
      <p:sp>
        <p:nvSpPr>
          <p:cNvPr id="13" name="Text: 5 秒商量 → 鎖定答案 → 翻頁揭曉"/>
          <p:cNvSpPr txBox="1"/>
          <p:nvPr/>
        </p:nvSpPr>
        <p:spPr>
          <a:xfrm>
            <a:off x="731520" y="5596128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5 秒商量 → 鎖定答案 → 翻頁揭曉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07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07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破冰遊戲｜00–1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破冰遊戲｜00–10 分鐘</a:t>
            </a:r>
          </a:p>
        </p:txBody>
      </p:sp>
      <p:sp>
        <p:nvSpPr>
          <p:cNvPr id="7" name="Text: 答案揭曉"/>
          <p:cNvSpPr txBox="1"/>
          <p:nvPr/>
        </p:nvSpPr>
        <p:spPr>
          <a:xfrm>
            <a:off x="731520" y="1143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HK">
                <a:solidFill>
                  <a:srgbClr val="804212"/>
                </a:solidFill>
                <a:latin typeface="Microsoft JhengHei"/>
                <a:ea typeface="Microsoft JhengHei"/>
              </a:rPr>
              <a:t>答案揭曉</a:t>
            </a:r>
          </a:p>
        </p:txBody>
      </p:sp>
      <p:sp>
        <p:nvSpPr>
          <p:cNvPr id="8" name="Text: 假"/>
          <p:cNvSpPr txBox="1"/>
          <p:nvPr/>
        </p:nvSpPr>
        <p:spPr>
          <a:xfrm>
            <a:off x="731520" y="1947672"/>
            <a:ext cx="320040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0" lang="zh-HK">
                <a:solidFill>
                  <a:srgbClr val="804212"/>
                </a:solidFill>
                <a:latin typeface="PMingLiU"/>
                <a:ea typeface="PMingLiU"/>
              </a:rPr>
              <a:t>假</a:t>
            </a:r>
          </a:p>
        </p:txBody>
      </p:sp>
      <p:sp>
        <p:nvSpPr>
          <p:cNvPr id="9" name="Text: 先有蕪菁燈，&#10;後有南瓜燈。"/>
          <p:cNvSpPr txBox="1"/>
          <p:nvPr/>
        </p:nvSpPr>
        <p:spPr>
          <a:xfrm>
            <a:off x="3886200" y="1810512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2A1E13"/>
                </a:solidFill>
                <a:latin typeface="PMingLiU"/>
                <a:ea typeface="PMingLiU"/>
              </a:rPr>
              <a:t>先有蕪菁燈，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2A1E13"/>
                </a:solidFill>
                <a:latin typeface="PMingLiU"/>
                <a:ea typeface="PMingLiU"/>
              </a:rPr>
              <a:t>後有南瓜燈。</a:t>
            </a:r>
          </a:p>
        </p:txBody>
      </p:sp>
      <p:sp>
        <p:nvSpPr>
          <p:cNvPr id="10" name="Text: 愛爾蘭等地早期常雕刻蕪菁等根莖。&#10;移民到北美後，南瓜慢慢成為常見"/>
          <p:cNvSpPr txBox="1"/>
          <p:nvPr/>
        </p:nvSpPr>
        <p:spPr>
          <a:xfrm>
            <a:off x="3886200" y="3639312"/>
            <a:ext cx="7315200" cy="1581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愛爾蘭等地早期常雕刻蕪菁等根莖。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移民到北美後，南瓜慢慢成為常見材料。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同一個符號，都會隨文化而改變。</a:t>
            </a:r>
          </a:p>
        </p:txBody>
      </p:sp>
      <p:sp>
        <p:nvSpPr>
          <p:cNvPr id="11" name="Text: 民俗重點：早期根莖燈籠 → 北美南瓜燈"/>
          <p:cNvSpPr txBox="1"/>
          <p:nvPr/>
        </p:nvSpPr>
        <p:spPr>
          <a:xfrm>
            <a:off x="731520" y="574243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民俗重點：早期根莖燈籠 → 北美南瓜燈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08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08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破冰遊戲｜00–1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破冰遊戲｜00–10 分鐘</a:t>
            </a:r>
          </a:p>
        </p:txBody>
      </p:sp>
      <p:sp>
        <p:nvSpPr>
          <p:cNvPr id="7" name="Text: 真假挑戰  /  QUESTION 03"/>
          <p:cNvSpPr txBox="1"/>
          <p:nvPr/>
        </p:nvSpPr>
        <p:spPr>
          <a:xfrm>
            <a:off x="731520" y="11704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HK">
                <a:solidFill>
                  <a:srgbClr val="D8B78F"/>
                </a:solidFill>
                <a:latin typeface="Microsoft JhengHei"/>
                <a:ea typeface="Microsoft JhengHei"/>
              </a:rPr>
              <a:t>真假挑戰  /  QUESTION 03</a:t>
            </a:r>
          </a:p>
        </p:txBody>
      </p:sp>
      <p:sp>
        <p:nvSpPr>
          <p:cNvPr id="8" name="Text: 萬聖節嘅歷史背景，&#10;包括古凱爾特人嘅薩溫節？"/>
          <p:cNvSpPr txBox="1"/>
          <p:nvPr/>
        </p:nvSpPr>
        <p:spPr>
          <a:xfrm>
            <a:off x="731520" y="2020824"/>
            <a:ext cx="10744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EEDFC7"/>
                </a:solidFill>
                <a:latin typeface="PMingLiU"/>
                <a:ea typeface="PMingLiU"/>
              </a:rPr>
              <a:t>萬聖節嘅歷史背景，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EEDFC7"/>
                </a:solidFill>
                <a:latin typeface="PMingLiU"/>
                <a:ea typeface="PMingLiU"/>
              </a:rPr>
              <a:t>包括古凱爾特人嘅薩溫節？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29768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: 真 TRUE"/>
          <p:cNvSpPr txBox="1"/>
          <p:nvPr/>
        </p:nvSpPr>
        <p:spPr>
          <a:xfrm>
            <a:off x="731520" y="459028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lang="zh-HK">
                <a:solidFill>
                  <a:srgbClr val="EEDFC7"/>
                </a:solidFill>
                <a:latin typeface="PMingLiU"/>
                <a:ea typeface="PMingLiU"/>
              </a:rPr>
              <a:t>真 TRUE</a:t>
            </a:r>
          </a:p>
        </p:txBody>
      </p:sp>
      <p:sp>
        <p:nvSpPr>
          <p:cNvPr id="11" name="Text: 仲係"/>
          <p:cNvSpPr txBox="1"/>
          <p:nvPr/>
        </p:nvSpPr>
        <p:spPr>
          <a:xfrm>
            <a:off x="5230368" y="4800600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仲係</a:t>
            </a:r>
          </a:p>
        </p:txBody>
      </p:sp>
      <p:sp>
        <p:nvSpPr>
          <p:cNvPr id="12" name="Text: 假 FALSE"/>
          <p:cNvSpPr txBox="1"/>
          <p:nvPr/>
        </p:nvSpPr>
        <p:spPr>
          <a:xfrm>
            <a:off x="7790688" y="4590288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lang="zh-HK">
                <a:solidFill>
                  <a:srgbClr val="EEDFC7"/>
                </a:solidFill>
                <a:latin typeface="PMingLiU"/>
                <a:ea typeface="PMingLiU"/>
              </a:rPr>
              <a:t>假 FALSE</a:t>
            </a:r>
          </a:p>
        </p:txBody>
      </p:sp>
      <p:sp>
        <p:nvSpPr>
          <p:cNvPr id="13" name="Text: 5 秒商量 → 鎖定答案 → 翻頁揭曉"/>
          <p:cNvSpPr txBox="1"/>
          <p:nvPr/>
        </p:nvSpPr>
        <p:spPr>
          <a:xfrm>
            <a:off x="731520" y="5596128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5 秒商量 → 鎖定答案 → 翻頁揭曉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09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09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破冰遊戲｜00–1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破冰遊戲｜00–10 分鐘</a:t>
            </a:r>
          </a:p>
        </p:txBody>
      </p:sp>
      <p:sp>
        <p:nvSpPr>
          <p:cNvPr id="7" name="Text: 答案揭曉"/>
          <p:cNvSpPr txBox="1"/>
          <p:nvPr/>
        </p:nvSpPr>
        <p:spPr>
          <a:xfrm>
            <a:off x="731520" y="1143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HK">
                <a:solidFill>
                  <a:srgbClr val="804212"/>
                </a:solidFill>
                <a:latin typeface="Microsoft JhengHei"/>
                <a:ea typeface="Microsoft JhengHei"/>
              </a:rPr>
              <a:t>答案揭曉</a:t>
            </a:r>
          </a:p>
        </p:txBody>
      </p:sp>
      <p:sp>
        <p:nvSpPr>
          <p:cNvPr id="8" name="Text: 真"/>
          <p:cNvSpPr txBox="1"/>
          <p:nvPr/>
        </p:nvSpPr>
        <p:spPr>
          <a:xfrm>
            <a:off x="731520" y="1947672"/>
            <a:ext cx="3200400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0" lang="zh-HK">
                <a:solidFill>
                  <a:srgbClr val="804212"/>
                </a:solidFill>
                <a:latin typeface="PMingLiU"/>
                <a:ea typeface="PMingLiU"/>
              </a:rPr>
              <a:t>真</a:t>
            </a:r>
          </a:p>
        </p:txBody>
      </p:sp>
      <p:sp>
        <p:nvSpPr>
          <p:cNvPr id="9" name="Text: 收穫季結束，&#10;冬季將開始。"/>
          <p:cNvSpPr txBox="1"/>
          <p:nvPr/>
        </p:nvSpPr>
        <p:spPr>
          <a:xfrm>
            <a:off x="3886200" y="1810512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2A1E13"/>
                </a:solidFill>
                <a:latin typeface="PMingLiU"/>
                <a:ea typeface="PMingLiU"/>
              </a:rPr>
              <a:t>收穫季結束，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zh-HK">
                <a:solidFill>
                  <a:srgbClr val="2A1E13"/>
                </a:solidFill>
                <a:latin typeface="PMingLiU"/>
                <a:ea typeface="PMingLiU"/>
              </a:rPr>
              <a:t>冬季將開始。</a:t>
            </a:r>
          </a:p>
        </p:txBody>
      </p:sp>
      <p:sp>
        <p:nvSpPr>
          <p:cNvPr id="10" name="Text: 薩溫節（Samhain）係重要歷史背景之一。&#10;時間大約係 10 "/>
          <p:cNvSpPr txBox="1"/>
          <p:nvPr/>
        </p:nvSpPr>
        <p:spPr>
          <a:xfrm>
            <a:off x="3886200" y="3639312"/>
            <a:ext cx="7315200" cy="1581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薩溫節（Samhain）係重要歷史背景之一。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時間大約係 10 月 31 日至 11 月 1 日。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唔係冬至前夕；都唔係萬聖節嘅唯一來源。</a:t>
            </a:r>
          </a:p>
        </p:txBody>
      </p:sp>
      <p:sp>
        <p:nvSpPr>
          <p:cNvPr id="11" name="Text: 日期辨識：入冬節期 ≠ 12 月冬至"/>
          <p:cNvSpPr txBox="1"/>
          <p:nvPr/>
        </p:nvSpPr>
        <p:spPr>
          <a:xfrm>
            <a:off x="731520" y="574243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日期辨識：入冬節期 ≠ 12 月冬至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10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10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專題講解｜10–25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專題講解｜10–25 分鐘</a:t>
            </a:r>
          </a:p>
        </p:txBody>
      </p:sp>
      <p:sp>
        <p:nvSpPr>
          <p:cNvPr id="7" name="Text: 唔只係「好玩」咁簡單。"/>
          <p:cNvSpPr txBox="1"/>
          <p:nvPr/>
        </p:nvSpPr>
        <p:spPr>
          <a:xfrm>
            <a:off x="731520" y="1353312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HK">
                <a:solidFill>
                  <a:srgbClr val="804212"/>
                </a:solidFill>
                <a:latin typeface="Microsoft JhengHei"/>
                <a:ea typeface="Microsoft JhengHei"/>
              </a:rPr>
              <a:t>唔只係「好玩」咁簡單。</a:t>
            </a:r>
          </a:p>
        </p:txBody>
      </p:sp>
      <p:sp>
        <p:nvSpPr>
          <p:cNvPr id="8" name="Text: 呢個活動，&#10;喺慶祝乜嘢？"/>
          <p:cNvSpPr txBox="1"/>
          <p:nvPr/>
        </p:nvSpPr>
        <p:spPr>
          <a:xfrm>
            <a:off x="731520" y="2148840"/>
            <a:ext cx="1072591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lang="zh-HK">
                <a:solidFill>
                  <a:srgbClr val="2A1E13"/>
                </a:solidFill>
                <a:latin typeface="PMingLiU"/>
                <a:ea typeface="PMingLiU"/>
              </a:rPr>
              <a:t>呢個活動，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lang="zh-HK">
                <a:solidFill>
                  <a:srgbClr val="2A1E13"/>
                </a:solidFill>
                <a:latin typeface="PMingLiU"/>
                <a:ea typeface="PMingLiU"/>
              </a:rPr>
              <a:t>喺慶祝乜嘢？</a:t>
            </a:r>
          </a:p>
        </p:txBody>
      </p:sp>
      <p:sp>
        <p:nvSpPr>
          <p:cNvPr id="9" name="Text: 先認識文化背景，再想清楚自己嘅選擇。"/>
          <p:cNvSpPr txBox="1"/>
          <p:nvPr/>
        </p:nvSpPr>
        <p:spPr>
          <a:xfrm>
            <a:off x="731520" y="4983480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先認識文化背景，再想清楚自己嘅選擇。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11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11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專題講解｜10–25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專題講解｜10–25 分鐘</a:t>
            </a:r>
          </a:p>
        </p:txBody>
      </p:sp>
      <p:sp>
        <p:nvSpPr>
          <p:cNvPr id="7" name="Text: 節日會演變，唔可以只用一個起點解釋"/>
          <p:cNvSpPr txBox="1"/>
          <p:nvPr/>
        </p:nvSpPr>
        <p:spPr>
          <a:xfrm>
            <a:off x="731520" y="9875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節日會演變，唔可以只用一個起點解釋</a:t>
            </a:r>
          </a:p>
        </p:txBody>
      </p:sp>
      <p:sp>
        <p:nvSpPr>
          <p:cNvPr id="8" name="Text: 一個節日，幾層歷史"/>
          <p:cNvSpPr txBox="1"/>
          <p:nvPr/>
        </p:nvSpPr>
        <p:spPr>
          <a:xfrm>
            <a:off x="731520" y="1572768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zh-HK">
                <a:solidFill>
                  <a:srgbClr val="2A1E13"/>
                </a:solidFill>
                <a:latin typeface="PMingLiU"/>
                <a:ea typeface="PMingLiU"/>
              </a:rPr>
              <a:t>一個節日，幾層歷史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743200"/>
            <a:ext cx="3246119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: 01｜古代背景"/>
          <p:cNvSpPr txBox="1"/>
          <p:nvPr/>
        </p:nvSpPr>
        <p:spPr>
          <a:xfrm>
            <a:off x="731520" y="291693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01｜古代背景</a:t>
            </a:r>
          </a:p>
        </p:txBody>
      </p:sp>
      <p:sp>
        <p:nvSpPr>
          <p:cNvPr id="11" name="Text: 薩溫節 Samhain"/>
          <p:cNvSpPr txBox="1"/>
          <p:nvPr/>
        </p:nvSpPr>
        <p:spPr>
          <a:xfrm>
            <a:off x="731520" y="342900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2A1E13"/>
                </a:solidFill>
                <a:latin typeface="PMingLiU"/>
                <a:ea typeface="PMingLiU"/>
              </a:rPr>
              <a:t>薩溫節 Samhain</a:t>
            </a:r>
          </a:p>
        </p:txBody>
      </p:sp>
      <p:sp>
        <p:nvSpPr>
          <p:cNvPr id="12" name="Text: 收穫季結束、冬季開始。&#10;古人以篝火和民俗回應&#10;當時對亡靈嘅信念。"/>
          <p:cNvSpPr txBox="1"/>
          <p:nvPr/>
        </p:nvSpPr>
        <p:spPr>
          <a:xfrm>
            <a:off x="731520" y="44348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收穫季結束、冬季開始。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古人以篝火和民俗回應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當時對亡靈嘅信念。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71416" y="2743200"/>
            <a:ext cx="3246120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 02｜教會節期"/>
          <p:cNvSpPr txBox="1"/>
          <p:nvPr/>
        </p:nvSpPr>
        <p:spPr>
          <a:xfrm>
            <a:off x="4471416" y="291693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02｜教會節期</a:t>
            </a:r>
          </a:p>
        </p:txBody>
      </p:sp>
      <p:sp>
        <p:nvSpPr>
          <p:cNvPr id="15" name="Text: 諸聖節前夕"/>
          <p:cNvSpPr txBox="1"/>
          <p:nvPr/>
        </p:nvSpPr>
        <p:spPr>
          <a:xfrm>
            <a:off x="4471416" y="342900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2A1E13"/>
                </a:solidFill>
                <a:latin typeface="PMingLiU"/>
                <a:ea typeface="PMingLiU"/>
              </a:rPr>
              <a:t>諸聖節前夕</a:t>
            </a:r>
          </a:p>
        </p:txBody>
      </p:sp>
      <p:sp>
        <p:nvSpPr>
          <p:cNvPr id="16" name="Text: 11 月 1 日為諸聖節。&#10;前一晚 All Hallows' E"/>
          <p:cNvSpPr txBox="1"/>
          <p:nvPr/>
        </p:nvSpPr>
        <p:spPr>
          <a:xfrm>
            <a:off x="4471416" y="44348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11 月 1 日為諸聖節。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前一晚 All Hallows' Eve，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後來成為 Halloween。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11312" y="2743200"/>
            <a:ext cx="3246120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: 03｜近代文化"/>
          <p:cNvSpPr txBox="1"/>
          <p:nvPr/>
        </p:nvSpPr>
        <p:spPr>
          <a:xfrm>
            <a:off x="8211312" y="291693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03｜近代文化</a:t>
            </a:r>
          </a:p>
        </p:txBody>
      </p:sp>
      <p:sp>
        <p:nvSpPr>
          <p:cNvPr id="19" name="Text: 裝扮、糖果、派對"/>
          <p:cNvSpPr txBox="1"/>
          <p:nvPr/>
        </p:nvSpPr>
        <p:spPr>
          <a:xfrm>
            <a:off x="8211312" y="342900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2A1E13"/>
                </a:solidFill>
                <a:latin typeface="PMingLiU"/>
                <a:ea typeface="PMingLiU"/>
              </a:rPr>
              <a:t>裝扮、糖果、派對</a:t>
            </a:r>
          </a:p>
        </p:txBody>
      </p:sp>
      <p:sp>
        <p:nvSpPr>
          <p:cNvPr id="20" name="Text: 民俗、移民同商業文化&#10;慢慢交織，形成今日嘅&#10;各種節慶活動。"/>
          <p:cNvSpPr txBox="1"/>
          <p:nvPr/>
        </p:nvSpPr>
        <p:spPr>
          <a:xfrm>
            <a:off x="8211312" y="44348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民俗、移民同商業文化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慢慢交織，形成今日嘅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各種節慶活動。</a:t>
            </a:r>
          </a:p>
        </p:txBody>
      </p:sp>
      <p:sp>
        <p:nvSpPr>
          <p:cNvPr id="21" name="Text: 歷史記述 ≠ 證實鬼魂存在｜參考：HISTORY，History"/>
          <p:cNvSpPr txBox="1"/>
          <p:nvPr/>
        </p:nvSpPr>
        <p:spPr>
          <a:xfrm>
            <a:off x="731520" y="5824728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HK">
                <a:solidFill>
                  <a:srgbClr val="6A513D"/>
                </a:solidFill>
                <a:latin typeface="Microsoft JhengHei"/>
                <a:ea typeface="Microsoft JhengHei"/>
                <a:hlinkClick r:id="rId2"/>
              </a:rPr>
              <a:t>歷史記述 ≠ 證實鬼魂存在｜參考：HISTORY，History of Halloween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12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12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專題講解｜10–25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專題講解｜10–25 分鐘</a:t>
            </a:r>
          </a:p>
        </p:txBody>
      </p:sp>
      <p:sp>
        <p:nvSpPr>
          <p:cNvPr id="7" name="Text: 分辨活動，唔標籤人"/>
          <p:cNvSpPr txBox="1"/>
          <p:nvPr/>
        </p:nvSpPr>
        <p:spPr>
          <a:xfrm>
            <a:off x="731520" y="9875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分辨活動，唔標籤人</a:t>
            </a:r>
          </a:p>
        </p:txBody>
      </p:sp>
      <p:sp>
        <p:nvSpPr>
          <p:cNvPr id="8" name="Text: 別把三件事混為一談"/>
          <p:cNvSpPr txBox="1"/>
          <p:nvPr/>
        </p:nvSpPr>
        <p:spPr>
          <a:xfrm>
            <a:off x="731520" y="1572768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zh-HK">
                <a:solidFill>
                  <a:srgbClr val="EEDFC7"/>
                </a:solidFill>
                <a:latin typeface="PMingLiU"/>
                <a:ea typeface="PMingLiU"/>
              </a:rPr>
              <a:t>別把三件事混為一談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880360"/>
            <a:ext cx="3246119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: 文化由來"/>
          <p:cNvSpPr txBox="1"/>
          <p:nvPr/>
        </p:nvSpPr>
        <p:spPr>
          <a:xfrm>
            <a:off x="731520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文化由來</a:t>
            </a:r>
          </a:p>
        </p:txBody>
      </p:sp>
      <p:sp>
        <p:nvSpPr>
          <p:cNvPr id="11" name="Text: 歷史點樣形成？"/>
          <p:cNvSpPr txBox="1"/>
          <p:nvPr/>
        </p:nvSpPr>
        <p:spPr>
          <a:xfrm>
            <a:off x="731520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EEDFC7"/>
                </a:solidFill>
                <a:latin typeface="PMingLiU"/>
                <a:ea typeface="PMingLiU"/>
              </a:rPr>
              <a:t>歷史點樣形成？</a:t>
            </a:r>
          </a:p>
        </p:txBody>
      </p:sp>
      <p:sp>
        <p:nvSpPr>
          <p:cNvPr id="12" name="Text: 古代背景唔等於今日&#10;每位參加者嘅動機。"/>
          <p:cNvSpPr txBox="1"/>
          <p:nvPr/>
        </p:nvSpPr>
        <p:spPr>
          <a:xfrm>
            <a:off x="731520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古代背景唔等於今日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每位參加者嘅動機。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71416" y="2880360"/>
            <a:ext cx="324612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 實際內容"/>
          <p:cNvSpPr txBox="1"/>
          <p:nvPr/>
        </p:nvSpPr>
        <p:spPr>
          <a:xfrm>
            <a:off x="4471416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實際內容</a:t>
            </a:r>
          </a:p>
        </p:txBody>
      </p:sp>
      <p:sp>
        <p:nvSpPr>
          <p:cNvPr id="15" name="Text: 今次活動做乜嘢？"/>
          <p:cNvSpPr txBox="1"/>
          <p:nvPr/>
        </p:nvSpPr>
        <p:spPr>
          <a:xfrm>
            <a:off x="4471416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EEDFC7"/>
                </a:solidFill>
                <a:latin typeface="PMingLiU"/>
                <a:ea typeface="PMingLiU"/>
              </a:rPr>
              <a:t>今次活動做乜嘢？</a:t>
            </a:r>
          </a:p>
        </p:txBody>
      </p:sp>
      <p:sp>
        <p:nvSpPr>
          <p:cNvPr id="16" name="Text: 留意招魂、占卜、驚嚇，&#10;同埋安全同身心需要。"/>
          <p:cNvSpPr txBox="1"/>
          <p:nvPr/>
        </p:nvSpPr>
        <p:spPr>
          <a:xfrm>
            <a:off x="4471416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留意招魂、占卜、驚嚇，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同埋安全同身心需要。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11312" y="2880360"/>
            <a:ext cx="324612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: 信仰同良心"/>
          <p:cNvSpPr txBox="1"/>
          <p:nvPr/>
        </p:nvSpPr>
        <p:spPr>
          <a:xfrm>
            <a:off x="8211312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信仰同良心</a:t>
            </a:r>
          </a:p>
        </p:txBody>
      </p:sp>
      <p:sp>
        <p:nvSpPr>
          <p:cNvPr id="19" name="Text: 我點樣揀？"/>
          <p:cNvSpPr txBox="1"/>
          <p:nvPr/>
        </p:nvSpPr>
        <p:spPr>
          <a:xfrm>
            <a:off x="8211312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EEDFC7"/>
                </a:solidFill>
                <a:latin typeface="PMingLiU"/>
                <a:ea typeface="PMingLiU"/>
              </a:rPr>
              <a:t>我點樣揀？</a:t>
            </a:r>
          </a:p>
        </p:txBody>
      </p:sp>
      <p:sp>
        <p:nvSpPr>
          <p:cNvPr id="20" name="Text: 唔同教會立場唔盡相同。&#10;可同家長、導師商量。"/>
          <p:cNvSpPr txBox="1"/>
          <p:nvPr/>
        </p:nvSpPr>
        <p:spPr>
          <a:xfrm>
            <a:off x="8211312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唔同教會立場唔盡相同。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可同家長、導師商量。</a:t>
            </a:r>
          </a:p>
        </p:txBody>
      </p:sp>
      <p:sp>
        <p:nvSpPr>
          <p:cNvPr id="21" name="Text: 本次聚會方向：唔參加招魂、占卜同恐怖主題活動，改以光明派對回應。"/>
          <p:cNvSpPr txBox="1"/>
          <p:nvPr/>
        </p:nvSpPr>
        <p:spPr>
          <a:xfrm>
            <a:off x="731520" y="5632704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HK">
                <a:solidFill>
                  <a:srgbClr val="D8B78F"/>
                </a:solidFill>
                <a:latin typeface="Microsoft JhengHei"/>
                <a:ea typeface="Microsoft JhengHei"/>
              </a:rPr>
              <a:t>本次聚會方向：唔參加招魂、占卜同恐怖主題活動，改以光明派對回應。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13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13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專題講解｜10–25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專題講解｜10–25 分鐘</a:t>
            </a:r>
          </a:p>
        </p:txBody>
      </p:sp>
      <p:sp>
        <p:nvSpPr>
          <p:cNvPr id="7" name="Text: 01｜身份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01｜身份</a:t>
            </a:r>
          </a:p>
        </p:txBody>
      </p:sp>
      <p:sp>
        <p:nvSpPr>
          <p:cNvPr id="8" name="Text: 我哋追求光，活出生命"/>
          <p:cNvSpPr txBox="1"/>
          <p:nvPr/>
        </p:nvSpPr>
        <p:spPr>
          <a:xfrm>
            <a:off x="731520" y="1673352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zh-HK">
                <a:solidFill>
                  <a:srgbClr val="EEDFC7"/>
                </a:solidFill>
                <a:latin typeface="PMingLiU"/>
                <a:ea typeface="PMingLiU"/>
              </a:rPr>
              <a:t>我哋追求光，活出生命</a:t>
            </a:r>
          </a:p>
        </p:txBody>
      </p:sp>
      <p:sp>
        <p:nvSpPr>
          <p:cNvPr id="9" name="Text: 「我是世界的光。跟從我的，&#10;就不在黑暗裏走，&#10;必要得着生命的光。"/>
          <p:cNvSpPr txBox="1"/>
          <p:nvPr/>
        </p:nvSpPr>
        <p:spPr>
          <a:xfrm>
            <a:off x="731520" y="2587752"/>
            <a:ext cx="1072591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lang="zh-HK">
                <a:solidFill>
                  <a:srgbClr val="EEDFC7"/>
                </a:solidFill>
                <a:latin typeface="PMingLiU"/>
                <a:ea typeface="PMingLiU"/>
              </a:rPr>
              <a:t>「我是世界的光。跟從我的，</a:t>
            </a: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lang="zh-HK">
                <a:solidFill>
                  <a:srgbClr val="EEDFC7"/>
                </a:solidFill>
                <a:latin typeface="PMingLiU"/>
                <a:ea typeface="PMingLiU"/>
              </a:rPr>
              <a:t>就不在黑暗裏走，</a:t>
            </a: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lang="zh-HK">
                <a:solidFill>
                  <a:srgbClr val="EEDFC7"/>
                </a:solidFill>
                <a:latin typeface="PMingLiU"/>
                <a:ea typeface="PMingLiU"/>
              </a:rPr>
              <a:t>必要得着生命的光。」</a:t>
            </a:r>
          </a:p>
        </p:txBody>
      </p:sp>
      <p:sp>
        <p:nvSpPr>
          <p:cNvPr id="10" name="Text: 約翰福音 8:12｜和合本"/>
          <p:cNvSpPr txBox="1"/>
          <p:nvPr/>
        </p:nvSpPr>
        <p:spPr>
          <a:xfrm>
            <a:off x="731520" y="455371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約翰福音 8:12｜和合本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5056632"/>
            <a:ext cx="516636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: 選擇傳遞"/>
          <p:cNvSpPr txBox="1"/>
          <p:nvPr/>
        </p:nvSpPr>
        <p:spPr>
          <a:xfrm>
            <a:off x="731520" y="5239512"/>
            <a:ext cx="5166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選擇傳遞</a:t>
            </a:r>
          </a:p>
        </p:txBody>
      </p:sp>
      <p:sp>
        <p:nvSpPr>
          <p:cNvPr id="13" name="Text: 希望、生命、愛"/>
          <p:cNvSpPr txBox="1"/>
          <p:nvPr/>
        </p:nvSpPr>
        <p:spPr>
          <a:xfrm>
            <a:off x="731520" y="564184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HK">
                <a:solidFill>
                  <a:srgbClr val="EEDFC7"/>
                </a:solidFill>
                <a:latin typeface="Microsoft JhengHei"/>
                <a:ea typeface="Microsoft JhengHei"/>
              </a:rPr>
              <a:t>希望、生命、愛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63640" y="5056632"/>
            <a:ext cx="516636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: 唔以恐怖作招徠"/>
          <p:cNvSpPr txBox="1"/>
          <p:nvPr/>
        </p:nvSpPr>
        <p:spPr>
          <a:xfrm>
            <a:off x="6263640" y="5239512"/>
            <a:ext cx="5166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唔以恐怖作招徠</a:t>
            </a:r>
          </a:p>
        </p:txBody>
      </p:sp>
      <p:sp>
        <p:nvSpPr>
          <p:cNvPr id="16" name="Text: 唔以標籤傷害別人"/>
          <p:cNvSpPr txBox="1"/>
          <p:nvPr/>
        </p:nvSpPr>
        <p:spPr>
          <a:xfrm>
            <a:off x="6263640" y="564184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HK">
                <a:solidFill>
                  <a:srgbClr val="EEDFC7"/>
                </a:solidFill>
                <a:latin typeface="Microsoft JhengHei"/>
                <a:ea typeface="Microsoft JhengHei"/>
              </a:rPr>
              <a:t>唔以標籤傷害別人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14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14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專題講解｜10–25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專題講解｜10–25 分鐘</a:t>
            </a:r>
          </a:p>
        </p:txBody>
      </p:sp>
      <p:sp>
        <p:nvSpPr>
          <p:cNvPr id="7" name="Text: 02｜分辨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02｜分辨</a:t>
            </a:r>
          </a:p>
        </p:txBody>
      </p:sp>
      <p:sp>
        <p:nvSpPr>
          <p:cNvPr id="8" name="Text: 停一停，諗一諗"/>
          <p:cNvSpPr txBox="1"/>
          <p:nvPr/>
        </p:nvSpPr>
        <p:spPr>
          <a:xfrm>
            <a:off x="731520" y="1673352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zh-HK">
                <a:solidFill>
                  <a:srgbClr val="2A1E13"/>
                </a:solidFill>
                <a:latin typeface="PMingLiU"/>
                <a:ea typeface="PMingLiU"/>
              </a:rPr>
              <a:t>停一停，諗一諗</a:t>
            </a:r>
          </a:p>
        </p:txBody>
      </p:sp>
      <p:sp>
        <p:nvSpPr>
          <p:cNvPr id="9" name="Text: 「不要效法這個世界，&#10;只要心意更新而變化，&#10;叫你們察驗何為神的善"/>
          <p:cNvSpPr txBox="1"/>
          <p:nvPr/>
        </p:nvSpPr>
        <p:spPr>
          <a:xfrm>
            <a:off x="731520" y="2587752"/>
            <a:ext cx="1072591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HK">
                <a:solidFill>
                  <a:srgbClr val="2A1E13"/>
                </a:solidFill>
                <a:latin typeface="PMingLiU"/>
                <a:ea typeface="PMingLiU"/>
              </a:rPr>
              <a:t>「不要效法這個世界，</a:t>
            </a: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HK">
                <a:solidFill>
                  <a:srgbClr val="2A1E13"/>
                </a:solidFill>
                <a:latin typeface="PMingLiU"/>
                <a:ea typeface="PMingLiU"/>
              </a:rPr>
              <a:t>只要心意更新而變化，</a:t>
            </a: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HK">
                <a:solidFill>
                  <a:srgbClr val="2A1E13"/>
                </a:solidFill>
                <a:latin typeface="PMingLiU"/>
                <a:ea typeface="PMingLiU"/>
              </a:rPr>
              <a:t>叫你們察驗何為神的善良、</a:t>
            </a: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HK">
                <a:solidFill>
                  <a:srgbClr val="2A1E13"/>
                </a:solidFill>
                <a:latin typeface="PMingLiU"/>
                <a:ea typeface="PMingLiU"/>
              </a:rPr>
              <a:t>純全、可喜悅的旨意。」</a:t>
            </a:r>
          </a:p>
        </p:txBody>
      </p:sp>
      <p:sp>
        <p:nvSpPr>
          <p:cNvPr id="10" name="Text: 羅馬書 12:2｜和合本"/>
          <p:cNvSpPr txBox="1"/>
          <p:nvPr/>
        </p:nvSpPr>
        <p:spPr>
          <a:xfrm>
            <a:off x="731520" y="455371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羅馬書 12:2｜和合本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5056632"/>
            <a:ext cx="5166360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: 睇清楚內容"/>
          <p:cNvSpPr txBox="1"/>
          <p:nvPr/>
        </p:nvSpPr>
        <p:spPr>
          <a:xfrm>
            <a:off x="731520" y="5239512"/>
            <a:ext cx="5166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睇清楚內容</a:t>
            </a:r>
          </a:p>
        </p:txBody>
      </p:sp>
      <p:sp>
        <p:nvSpPr>
          <p:cNvPr id="13" name="Text: 呢活動係咪合宜、安全？"/>
          <p:cNvSpPr txBox="1"/>
          <p:nvPr/>
        </p:nvSpPr>
        <p:spPr>
          <a:xfrm>
            <a:off x="731520" y="564184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HK">
                <a:solidFill>
                  <a:srgbClr val="2A1E13"/>
                </a:solidFill>
                <a:latin typeface="Microsoft JhengHei"/>
                <a:ea typeface="Microsoft JhengHei"/>
              </a:rPr>
              <a:t>呢活動係咪合宜、安全？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63640" y="5056632"/>
            <a:ext cx="5166360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: 睇清楚動機"/>
          <p:cNvSpPr txBox="1"/>
          <p:nvPr/>
        </p:nvSpPr>
        <p:spPr>
          <a:xfrm>
            <a:off x="6263640" y="5239512"/>
            <a:ext cx="5166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睇清楚動機</a:t>
            </a:r>
          </a:p>
        </p:txBody>
      </p:sp>
      <p:sp>
        <p:nvSpPr>
          <p:cNvPr id="16" name="Text: 我係願意，仲係怕被排斥？"/>
          <p:cNvSpPr txBox="1"/>
          <p:nvPr/>
        </p:nvSpPr>
        <p:spPr>
          <a:xfrm>
            <a:off x="6263640" y="564184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HK">
                <a:solidFill>
                  <a:srgbClr val="2A1E13"/>
                </a:solidFill>
                <a:latin typeface="Microsoft JhengHei"/>
                <a:ea typeface="Microsoft JhengHei"/>
              </a:rPr>
              <a:t>我係願意，仲係怕被排斥？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15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15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專題講解｜10–25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專題講解｜10–25 分鐘</a:t>
            </a:r>
          </a:p>
        </p:txBody>
      </p:sp>
      <p:sp>
        <p:nvSpPr>
          <p:cNvPr id="7" name="Text: 03｜勇氣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03｜勇氣</a:t>
            </a:r>
          </a:p>
        </p:txBody>
      </p:sp>
      <p:sp>
        <p:nvSpPr>
          <p:cNvPr id="8" name="Text: 剛強、仁愛、謹守"/>
          <p:cNvSpPr txBox="1"/>
          <p:nvPr/>
        </p:nvSpPr>
        <p:spPr>
          <a:xfrm>
            <a:off x="731520" y="1673352"/>
            <a:ext cx="107259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lang="zh-HK">
                <a:solidFill>
                  <a:srgbClr val="EEDFC7"/>
                </a:solidFill>
                <a:latin typeface="PMingLiU"/>
                <a:ea typeface="PMingLiU"/>
              </a:rPr>
              <a:t>剛強、仁愛、謹守</a:t>
            </a:r>
          </a:p>
        </p:txBody>
      </p:sp>
      <p:sp>
        <p:nvSpPr>
          <p:cNvPr id="9" name="Text: 「因為神賜給我們，&#10;不是膽怯的心，&#10;乃是剛強、仁愛、謹守的心。」"/>
          <p:cNvSpPr txBox="1"/>
          <p:nvPr/>
        </p:nvSpPr>
        <p:spPr>
          <a:xfrm>
            <a:off x="731520" y="2587752"/>
            <a:ext cx="10725912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lang="zh-HK">
                <a:solidFill>
                  <a:srgbClr val="EEDFC7"/>
                </a:solidFill>
                <a:latin typeface="PMingLiU"/>
                <a:ea typeface="PMingLiU"/>
              </a:rPr>
              <a:t>「因為神賜給我們，</a:t>
            </a: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lang="zh-HK">
                <a:solidFill>
                  <a:srgbClr val="EEDFC7"/>
                </a:solidFill>
                <a:latin typeface="PMingLiU"/>
                <a:ea typeface="PMingLiU"/>
              </a:rPr>
              <a:t>不是膽怯的心，</a:t>
            </a:r>
          </a:p>
          <a:p>
            <a:pPr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lang="zh-HK">
                <a:solidFill>
                  <a:srgbClr val="EEDFC7"/>
                </a:solidFill>
                <a:latin typeface="PMingLiU"/>
                <a:ea typeface="PMingLiU"/>
              </a:rPr>
              <a:t>乃是剛強、仁愛、謹守的心。」</a:t>
            </a:r>
          </a:p>
        </p:txBody>
      </p:sp>
      <p:sp>
        <p:nvSpPr>
          <p:cNvPr id="10" name="Text: 提摩太後書 1:7｜和合本"/>
          <p:cNvSpPr txBox="1"/>
          <p:nvPr/>
        </p:nvSpPr>
        <p:spPr>
          <a:xfrm>
            <a:off x="731520" y="4553712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提摩太後書 1:7｜和合本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5056632"/>
            <a:ext cx="516636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: 有勇氣"/>
          <p:cNvSpPr txBox="1"/>
          <p:nvPr/>
        </p:nvSpPr>
        <p:spPr>
          <a:xfrm>
            <a:off x="731520" y="5239512"/>
            <a:ext cx="5166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有勇氣</a:t>
            </a:r>
          </a:p>
        </p:txBody>
      </p:sp>
      <p:sp>
        <p:nvSpPr>
          <p:cNvPr id="13" name="Text: 溫柔表明自己嘅界線"/>
          <p:cNvSpPr txBox="1"/>
          <p:nvPr/>
        </p:nvSpPr>
        <p:spPr>
          <a:xfrm>
            <a:off x="731520" y="564184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HK">
                <a:solidFill>
                  <a:srgbClr val="EEDFC7"/>
                </a:solidFill>
                <a:latin typeface="Microsoft JhengHei"/>
                <a:ea typeface="Microsoft JhengHei"/>
              </a:rPr>
              <a:t>溫柔表明自己嘅界線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63640" y="5056632"/>
            <a:ext cx="516636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: 有愛心、有自制"/>
          <p:cNvSpPr txBox="1"/>
          <p:nvPr/>
        </p:nvSpPr>
        <p:spPr>
          <a:xfrm>
            <a:off x="6263640" y="5239512"/>
            <a:ext cx="5166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有愛心、有自制</a:t>
            </a:r>
          </a:p>
        </p:txBody>
      </p:sp>
      <p:sp>
        <p:nvSpPr>
          <p:cNvPr id="16" name="Text: 尊重朋友，都照顧安全"/>
          <p:cNvSpPr txBox="1"/>
          <p:nvPr/>
        </p:nvSpPr>
        <p:spPr>
          <a:xfrm>
            <a:off x="6263640" y="564184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HK">
                <a:solidFill>
                  <a:srgbClr val="EEDFC7"/>
                </a:solidFill>
                <a:latin typeface="Microsoft JhengHei"/>
                <a:ea typeface="Microsoft JhengHei"/>
              </a:rPr>
              <a:t>尊重朋友，都照顧安全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16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16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專題講解｜10–25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專題講解｜10–25 分鐘</a:t>
            </a:r>
          </a:p>
        </p:txBody>
      </p:sp>
      <p:sp>
        <p:nvSpPr>
          <p:cNvPr id="7" name="Text: 問清楚，再決定"/>
          <p:cNvSpPr txBox="1"/>
          <p:nvPr/>
        </p:nvSpPr>
        <p:spPr>
          <a:xfrm>
            <a:off x="731520" y="9875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問清楚，再決定</a:t>
            </a:r>
          </a:p>
        </p:txBody>
      </p:sp>
      <p:sp>
        <p:nvSpPr>
          <p:cNvPr id="8" name="Text: 一個邀請，三個分辨"/>
          <p:cNvSpPr txBox="1"/>
          <p:nvPr/>
        </p:nvSpPr>
        <p:spPr>
          <a:xfrm>
            <a:off x="731520" y="1572768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zh-HK">
                <a:solidFill>
                  <a:srgbClr val="2A1E13"/>
                </a:solidFill>
                <a:latin typeface="PMingLiU"/>
                <a:ea typeface="PMingLiU"/>
              </a:rPr>
              <a:t>一個邀請，三個分辨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880360"/>
            <a:ext cx="3246119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: 看內容"/>
          <p:cNvSpPr txBox="1"/>
          <p:nvPr/>
        </p:nvSpPr>
        <p:spPr>
          <a:xfrm>
            <a:off x="731520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看內容</a:t>
            </a:r>
          </a:p>
        </p:txBody>
      </p:sp>
      <p:sp>
        <p:nvSpPr>
          <p:cNvPr id="11" name="Text: 呢活動做乜嘢？"/>
          <p:cNvSpPr txBox="1"/>
          <p:nvPr/>
        </p:nvSpPr>
        <p:spPr>
          <a:xfrm>
            <a:off x="731520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2A1E13"/>
                </a:solidFill>
                <a:latin typeface="PMingLiU"/>
                <a:ea typeface="PMingLiU"/>
              </a:rPr>
              <a:t>呢活動做乜嘢？</a:t>
            </a:r>
          </a:p>
        </p:txBody>
      </p:sp>
      <p:sp>
        <p:nvSpPr>
          <p:cNvPr id="12" name="Text: 係咪涉及招魂、占卜，&#10;或令我唔安嘅驚嚇？"/>
          <p:cNvSpPr txBox="1"/>
          <p:nvPr/>
        </p:nvSpPr>
        <p:spPr>
          <a:xfrm>
            <a:off x="731520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係咪涉及招魂、占卜，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或令我唔安嘅驚嚇？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71416" y="2880360"/>
            <a:ext cx="3246120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 看動機"/>
          <p:cNvSpPr txBox="1"/>
          <p:nvPr/>
        </p:nvSpPr>
        <p:spPr>
          <a:xfrm>
            <a:off x="4471416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看動機</a:t>
            </a:r>
          </a:p>
        </p:txBody>
      </p:sp>
      <p:sp>
        <p:nvSpPr>
          <p:cNvPr id="15" name="Text: 我點解想去？"/>
          <p:cNvSpPr txBox="1"/>
          <p:nvPr/>
        </p:nvSpPr>
        <p:spPr>
          <a:xfrm>
            <a:off x="4471416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2A1E13"/>
                </a:solidFill>
                <a:latin typeface="PMingLiU"/>
                <a:ea typeface="PMingLiU"/>
              </a:rPr>
              <a:t>我點解想去？</a:t>
            </a:r>
          </a:p>
        </p:txBody>
      </p:sp>
      <p:sp>
        <p:nvSpPr>
          <p:cNvPr id="16" name="Text: 係真心願意，&#10;仲係怕被排斥？"/>
          <p:cNvSpPr txBox="1"/>
          <p:nvPr/>
        </p:nvSpPr>
        <p:spPr>
          <a:xfrm>
            <a:off x="4471416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係真心願意，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仲係怕被排斥？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11312" y="2880360"/>
            <a:ext cx="3246120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: 搵替代"/>
          <p:cNvSpPr txBox="1"/>
          <p:nvPr/>
        </p:nvSpPr>
        <p:spPr>
          <a:xfrm>
            <a:off x="8211312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搵替代</a:t>
            </a:r>
          </a:p>
        </p:txBody>
      </p:sp>
      <p:sp>
        <p:nvSpPr>
          <p:cNvPr id="19" name="Text: 有別嘅方法嗎？"/>
          <p:cNvSpPr txBox="1"/>
          <p:nvPr/>
        </p:nvSpPr>
        <p:spPr>
          <a:xfrm>
            <a:off x="8211312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2A1E13"/>
                </a:solidFill>
                <a:latin typeface="PMingLiU"/>
                <a:ea typeface="PMingLiU"/>
              </a:rPr>
              <a:t>有別嘅方法嗎？</a:t>
            </a:r>
          </a:p>
        </p:txBody>
      </p:sp>
      <p:sp>
        <p:nvSpPr>
          <p:cNvPr id="20" name="Text: 可以保留友誼同喜樂，&#10;一起做合宜嘅活動。"/>
          <p:cNvSpPr txBox="1"/>
          <p:nvPr/>
        </p:nvSpPr>
        <p:spPr>
          <a:xfrm>
            <a:off x="8211312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可以保留友誼同喜樂，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一起做合宜嘅活動。</a:t>
            </a:r>
          </a:p>
        </p:txBody>
      </p:sp>
      <p:sp>
        <p:nvSpPr>
          <p:cNvPr id="21" name="Text: 我哋選擇光明派對：點心、鼓勵、祝福，而唔係恐怖。"/>
          <p:cNvSpPr txBox="1"/>
          <p:nvPr/>
        </p:nvSpPr>
        <p:spPr>
          <a:xfrm>
            <a:off x="731520" y="5678424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HK">
                <a:solidFill>
                  <a:srgbClr val="804212"/>
                </a:solidFill>
                <a:latin typeface="Microsoft JhengHei"/>
                <a:ea typeface="Microsoft JhengHei"/>
              </a:rPr>
              <a:t>我哋選擇光明派對：點心、鼓勵、祝福，而唔係恐怖。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17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17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小組討論｜25–4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小組討論｜25–40 分鐘</a:t>
            </a:r>
          </a:p>
        </p:txBody>
      </p:sp>
      <p:sp>
        <p:nvSpPr>
          <p:cNvPr id="7" name="Text: 可以分享，都可以先聆聽"/>
          <p:cNvSpPr txBox="1"/>
          <p:nvPr/>
        </p:nvSpPr>
        <p:spPr>
          <a:xfrm>
            <a:off x="731520" y="9875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可以分享，都可以先聆聽</a:t>
            </a:r>
          </a:p>
        </p:txBody>
      </p:sp>
      <p:sp>
        <p:nvSpPr>
          <p:cNvPr id="8" name="Text: 真實講，都好好聽"/>
          <p:cNvSpPr txBox="1"/>
          <p:nvPr/>
        </p:nvSpPr>
        <p:spPr>
          <a:xfrm>
            <a:off x="731520" y="1572768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zh-HK">
                <a:solidFill>
                  <a:srgbClr val="EEDFC7"/>
                </a:solidFill>
                <a:latin typeface="PMingLiU"/>
                <a:ea typeface="PMingLiU"/>
              </a:rPr>
              <a:t>真實講，都好好聽</a:t>
            </a:r>
          </a:p>
        </p:txBody>
      </p:sp>
      <p:sp>
        <p:nvSpPr>
          <p:cNvPr id="9" name="Text: 4–6"/>
          <p:cNvSpPr txBox="1"/>
          <p:nvPr/>
        </p:nvSpPr>
        <p:spPr>
          <a:xfrm>
            <a:off x="731520" y="2871216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00" b="0" lang="zh-HK">
                <a:solidFill>
                  <a:srgbClr val="D8B78F"/>
                </a:solidFill>
                <a:latin typeface="PMingLiU"/>
                <a:ea typeface="PMingLiU"/>
              </a:rPr>
              <a:t>4–6</a:t>
            </a:r>
          </a:p>
        </p:txBody>
      </p:sp>
      <p:sp>
        <p:nvSpPr>
          <p:cNvPr id="10" name="Text: 人一組 × 一位導師"/>
          <p:cNvSpPr txBox="1"/>
          <p:nvPr/>
        </p:nvSpPr>
        <p:spPr>
          <a:xfrm>
            <a:off x="731520" y="4443984"/>
            <a:ext cx="3291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HK">
                <a:solidFill>
                  <a:srgbClr val="EEDFC7"/>
                </a:solidFill>
                <a:latin typeface="Microsoft JhengHei"/>
                <a:ea typeface="Microsoft JhengHei"/>
              </a:rPr>
              <a:t>人一組 × 一位導師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15968" y="2834640"/>
            <a:ext cx="7141464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: 唔嘲笑、唔打斷，都唔使急住給答案。"/>
          <p:cNvSpPr txBox="1"/>
          <p:nvPr/>
        </p:nvSpPr>
        <p:spPr>
          <a:xfrm>
            <a:off x="4315968" y="3035808"/>
            <a:ext cx="7141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EEDFC7"/>
                </a:solidFill>
                <a:latin typeface="Microsoft JhengHei"/>
                <a:ea typeface="Microsoft JhengHei"/>
              </a:rPr>
              <a:t>唔嘲笑、唔打斷，都唔使急住給答案。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15968" y="3685032"/>
            <a:ext cx="7141464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 唔用透露私密經歷；唔想講都可以。"/>
          <p:cNvSpPr txBox="1"/>
          <p:nvPr/>
        </p:nvSpPr>
        <p:spPr>
          <a:xfrm>
            <a:off x="4315968" y="3886200"/>
            <a:ext cx="7141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EEDFC7"/>
                </a:solidFill>
                <a:latin typeface="Microsoft JhengHei"/>
                <a:ea typeface="Microsoft JhengHei"/>
              </a:rPr>
              <a:t>唔用透露私密經歷；唔想講都可以。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15968" y="4535424"/>
            <a:ext cx="7141464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: 等每個人，都有被聆聽嘅空間。"/>
          <p:cNvSpPr txBox="1"/>
          <p:nvPr/>
        </p:nvSpPr>
        <p:spPr>
          <a:xfrm>
            <a:off x="4315968" y="4736592"/>
            <a:ext cx="7141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EEDFC7"/>
                </a:solidFill>
                <a:latin typeface="Microsoft JhengHei"/>
                <a:ea typeface="Microsoft JhengHei"/>
              </a:rPr>
              <a:t>等每個人，都有被聆聽嘅空間。</a:t>
            </a:r>
          </a:p>
        </p:txBody>
      </p:sp>
      <p:sp>
        <p:nvSpPr>
          <p:cNvPr id="17" name="Text: 約 11 分鐘討論，再練習一句回應。"/>
          <p:cNvSpPr txBox="1"/>
          <p:nvPr/>
        </p:nvSpPr>
        <p:spPr>
          <a:xfrm>
            <a:off x="731520" y="5660136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約 11 分鐘討論，再練習一句回應。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18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18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小組討論｜25–4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小組討論｜25–40 分鐘</a:t>
            </a:r>
          </a:p>
        </p:txBody>
      </p:sp>
      <p:sp>
        <p:nvSpPr>
          <p:cNvPr id="7" name="Text: 冇標準答案，想聽你嘅真實想法"/>
          <p:cNvSpPr txBox="1"/>
          <p:nvPr/>
        </p:nvSpPr>
        <p:spPr>
          <a:xfrm>
            <a:off x="731520" y="9875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冇標準答案，想聽你嘅真實想法</a:t>
            </a:r>
          </a:p>
        </p:txBody>
      </p:sp>
      <p:sp>
        <p:nvSpPr>
          <p:cNvPr id="8" name="Text: 你會點樣選擇？"/>
          <p:cNvSpPr txBox="1"/>
          <p:nvPr/>
        </p:nvSpPr>
        <p:spPr>
          <a:xfrm>
            <a:off x="731520" y="1572768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zh-HK">
                <a:solidFill>
                  <a:srgbClr val="2A1E13"/>
                </a:solidFill>
                <a:latin typeface="PMingLiU"/>
                <a:ea typeface="PMingLiU"/>
              </a:rPr>
              <a:t>你會點樣選擇？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743200"/>
            <a:ext cx="3246119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: 01｜同儕壓力 · 約 4 分鐘"/>
          <p:cNvSpPr txBox="1"/>
          <p:nvPr/>
        </p:nvSpPr>
        <p:spPr>
          <a:xfrm>
            <a:off x="731520" y="291693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01｜同儕壓力 · 約 4 分鐘</a:t>
            </a:r>
          </a:p>
        </p:txBody>
      </p:sp>
      <p:sp>
        <p:nvSpPr>
          <p:cNvPr id="11" name="Text: 朋友邀請你扮鬼，&#10;你會點樣回應？"/>
          <p:cNvSpPr txBox="1"/>
          <p:nvPr/>
        </p:nvSpPr>
        <p:spPr>
          <a:xfrm>
            <a:off x="731520" y="342900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HK">
                <a:solidFill>
                  <a:srgbClr val="2A1E13"/>
                </a:solidFill>
                <a:latin typeface="PMingLiU"/>
                <a:ea typeface="PMingLiU"/>
              </a:rPr>
              <a:t>朋友邀請你扮鬼，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HK">
                <a:solidFill>
                  <a:srgbClr val="2A1E13"/>
                </a:solidFill>
                <a:latin typeface="PMingLiU"/>
                <a:ea typeface="PMingLiU"/>
              </a:rPr>
              <a:t>你會點樣回應？</a:t>
            </a:r>
          </a:p>
        </p:txBody>
      </p:sp>
      <p:sp>
        <p:nvSpPr>
          <p:cNvPr id="12" name="Text: 最擔心被取笑、被排斥，&#10;仲係唔知道點樣講唔？"/>
          <p:cNvSpPr txBox="1"/>
          <p:nvPr/>
        </p:nvSpPr>
        <p:spPr>
          <a:xfrm>
            <a:off x="731520" y="44348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最擔心被取笑、被排斥，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仲係唔知道點樣講唔？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71416" y="2743200"/>
            <a:ext cx="3246120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 02｜文化觀察 · 約 3 分鐘"/>
          <p:cNvSpPr txBox="1"/>
          <p:nvPr/>
        </p:nvSpPr>
        <p:spPr>
          <a:xfrm>
            <a:off x="4471416" y="291693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02｜文化觀察 · 約 3 分鐘</a:t>
            </a:r>
          </a:p>
        </p:txBody>
      </p:sp>
      <p:sp>
        <p:nvSpPr>
          <p:cNvPr id="15" name="Text: 恐怖為何成為&#10;一種「娛樂」？"/>
          <p:cNvSpPr txBox="1"/>
          <p:nvPr/>
        </p:nvSpPr>
        <p:spPr>
          <a:xfrm>
            <a:off x="4471416" y="342900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HK">
                <a:solidFill>
                  <a:srgbClr val="2A1E13"/>
                </a:solidFill>
                <a:latin typeface="PMingLiU"/>
                <a:ea typeface="PMingLiU"/>
              </a:rPr>
              <a:t>恐怖為何成為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HK">
                <a:solidFill>
                  <a:srgbClr val="2A1E13"/>
                </a:solidFill>
                <a:latin typeface="PMingLiU"/>
                <a:ea typeface="PMingLiU"/>
              </a:rPr>
              <a:t>一種「娛樂」？</a:t>
            </a:r>
          </a:p>
        </p:txBody>
      </p:sp>
      <p:sp>
        <p:nvSpPr>
          <p:cNvPr id="16" name="Text: 商家點樣包裝節日？&#10;哪些有趣，哪些等你唔安？"/>
          <p:cNvSpPr txBox="1"/>
          <p:nvPr/>
        </p:nvSpPr>
        <p:spPr>
          <a:xfrm>
            <a:off x="4471416" y="44348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商家點樣包裝節日？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哪些有趣，哪些等你唔安？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11312" y="2743200"/>
            <a:ext cx="3246120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: 03｜信仰實踐 · 約 4 分鐘"/>
          <p:cNvSpPr txBox="1"/>
          <p:nvPr/>
        </p:nvSpPr>
        <p:spPr>
          <a:xfrm>
            <a:off x="8211312" y="291693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03｜信仰實踐 · 約 4 分鐘</a:t>
            </a:r>
          </a:p>
        </p:txBody>
      </p:sp>
      <p:sp>
        <p:nvSpPr>
          <p:cNvPr id="19" name="Text: 如果唔扮鬼，&#10;可以一起做乜嘢？"/>
          <p:cNvSpPr txBox="1"/>
          <p:nvPr/>
        </p:nvSpPr>
        <p:spPr>
          <a:xfrm>
            <a:off x="8211312" y="342900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HK">
                <a:solidFill>
                  <a:srgbClr val="2A1E13"/>
                </a:solidFill>
                <a:latin typeface="PMingLiU"/>
                <a:ea typeface="PMingLiU"/>
              </a:rPr>
              <a:t>如果唔扮鬼，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HK">
                <a:solidFill>
                  <a:srgbClr val="2A1E13"/>
                </a:solidFill>
                <a:latin typeface="PMingLiU"/>
                <a:ea typeface="PMingLiU"/>
              </a:rPr>
              <a:t>可以一起做乜嘢？</a:t>
            </a:r>
          </a:p>
        </p:txBody>
      </p:sp>
      <p:sp>
        <p:nvSpPr>
          <p:cNvPr id="20" name="Text: 想一個有意義、又好玩嘅&#10;替代活動。"/>
          <p:cNvSpPr txBox="1"/>
          <p:nvPr/>
        </p:nvSpPr>
        <p:spPr>
          <a:xfrm>
            <a:off x="8211312" y="4434840"/>
            <a:ext cx="3246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想一個有意義、又好玩嘅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替代活動。</a:t>
            </a:r>
          </a:p>
        </p:txBody>
      </p:sp>
      <p:sp>
        <p:nvSpPr>
          <p:cNvPr id="21" name="Text: 每人都有機會講；一起搵可行嘅選擇，唔使急住下判斷。"/>
          <p:cNvSpPr txBox="1"/>
          <p:nvPr/>
        </p:nvSpPr>
        <p:spPr>
          <a:xfrm>
            <a:off x="731520" y="5815584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每人都有機會講；一起搵可行嘅選擇，唔使急住下判斷。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19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19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小組討論｜25–4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小組討論｜25–40 分鐘</a:t>
            </a:r>
          </a:p>
        </p:txBody>
      </p:sp>
      <p:sp>
        <p:nvSpPr>
          <p:cNvPr id="7" name="Text: 感謝邀請 → 表明界線 → 提出替代"/>
          <p:cNvSpPr txBox="1"/>
          <p:nvPr/>
        </p:nvSpPr>
        <p:spPr>
          <a:xfrm>
            <a:off x="731520" y="1243584"/>
            <a:ext cx="107259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D8B78F"/>
                </a:solidFill>
                <a:latin typeface="Microsoft JhengHei"/>
                <a:ea typeface="Microsoft JhengHei"/>
              </a:rPr>
              <a:t>感謝邀請 → 表明界線 → 提出替代</a:t>
            </a:r>
          </a:p>
        </p:txBody>
      </p:sp>
      <p:sp>
        <p:nvSpPr>
          <p:cNvPr id="8" name="Text: 「多謝你邀請我！&#10;我唔參加扮鬼或招魂活動，&#10;不過我想同你一齊玩。"/>
          <p:cNvSpPr txBox="1"/>
          <p:nvPr/>
        </p:nvSpPr>
        <p:spPr>
          <a:xfrm>
            <a:off x="731520" y="1938528"/>
            <a:ext cx="10725912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0" lang="zh-HK">
                <a:solidFill>
                  <a:srgbClr val="EEDFC7"/>
                </a:solidFill>
                <a:latin typeface="PMingLiU"/>
                <a:ea typeface="PMingLiU"/>
              </a:rPr>
              <a:t>「多謝你邀請我！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0" lang="zh-HK">
                <a:solidFill>
                  <a:srgbClr val="EEDFC7"/>
                </a:solidFill>
                <a:latin typeface="PMingLiU"/>
                <a:ea typeface="PMingLiU"/>
              </a:rPr>
              <a:t>我唔參加扮鬼或招魂活動，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0" lang="zh-HK">
                <a:solidFill>
                  <a:srgbClr val="EEDFC7"/>
                </a:solidFill>
                <a:latin typeface="PMingLiU"/>
                <a:ea typeface="PMingLiU"/>
              </a:rPr>
              <a:t>不過我想同你一齊玩。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0" lang="zh-HK">
                <a:solidFill>
                  <a:srgbClr val="EEDFC7"/>
                </a:solidFill>
                <a:latin typeface="PMingLiU"/>
                <a:ea typeface="PMingLiU"/>
              </a:rPr>
              <a:t>不如來光明派對？」</a:t>
            </a:r>
          </a:p>
        </p:txBody>
      </p:sp>
      <p:sp>
        <p:nvSpPr>
          <p:cNvPr id="9" name="Text: 兩人一組練習，再交換角色。可以改成自己嘅講嘢方式。"/>
          <p:cNvSpPr txBox="1"/>
          <p:nvPr/>
        </p:nvSpPr>
        <p:spPr>
          <a:xfrm>
            <a:off x="731520" y="5175504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兩人一組練習，再交換角色。可以改成自己嘅講嘢方式。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20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20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回應同禱告｜40–5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回應同禱告｜40–50 分鐘</a:t>
            </a:r>
          </a:p>
        </p:txBody>
      </p:sp>
      <p:sp>
        <p:nvSpPr>
          <p:cNvPr id="7" name="Text: 我哋可以做出正面嘅選擇。"/>
          <p:cNvSpPr txBox="1"/>
          <p:nvPr/>
        </p:nvSpPr>
        <p:spPr>
          <a:xfrm>
            <a:off x="731520" y="1325880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HK">
                <a:solidFill>
                  <a:srgbClr val="804212"/>
                </a:solidFill>
                <a:latin typeface="Microsoft JhengHei"/>
                <a:ea typeface="Microsoft JhengHei"/>
              </a:rPr>
              <a:t>我哋可以做出正面嘅選擇。</a:t>
            </a:r>
          </a:p>
        </p:txBody>
      </p:sp>
      <p:sp>
        <p:nvSpPr>
          <p:cNvPr id="8" name="Text: 唔係少一點樂趣，&#10;係多一點光。"/>
          <p:cNvSpPr txBox="1"/>
          <p:nvPr/>
        </p:nvSpPr>
        <p:spPr>
          <a:xfrm>
            <a:off x="731520" y="2130552"/>
            <a:ext cx="10725912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5500" b="1" lang="zh-HK">
                <a:solidFill>
                  <a:srgbClr val="2A1E13"/>
                </a:solidFill>
                <a:latin typeface="PMingLiU"/>
                <a:ea typeface="PMingLiU"/>
              </a:rPr>
              <a:t>唔係少一點樂趣，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5500" b="1" lang="zh-HK">
                <a:solidFill>
                  <a:srgbClr val="2A1E13"/>
                </a:solidFill>
                <a:latin typeface="PMingLiU"/>
                <a:ea typeface="PMingLiU"/>
              </a:rPr>
              <a:t>係多一點光。</a:t>
            </a:r>
          </a:p>
        </p:txBody>
      </p:sp>
      <p:sp>
        <p:nvSpPr>
          <p:cNvPr id="9" name="Text: 慶祝生命同和平，等朋友感到被愛。"/>
          <p:cNvSpPr txBox="1"/>
          <p:nvPr/>
        </p:nvSpPr>
        <p:spPr>
          <a:xfrm>
            <a:off x="731520" y="493776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慶祝生命同和平，等朋友感到被愛。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21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21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回應同禱告｜40–5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回應同禱告｜40–50 分鐘</a:t>
            </a:r>
          </a:p>
        </p:txBody>
      </p:sp>
      <p:sp>
        <p:nvSpPr>
          <p:cNvPr id="7" name="Text: 經文主題摘要｜非逐字引文"/>
          <p:cNvSpPr txBox="1"/>
          <p:nvPr/>
        </p:nvSpPr>
        <p:spPr>
          <a:xfrm>
            <a:off x="731520" y="9875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經文主題摘要｜非逐字引文</a:t>
            </a:r>
          </a:p>
        </p:txBody>
      </p:sp>
      <p:sp>
        <p:nvSpPr>
          <p:cNvPr id="8" name="Text: 帶走三句提醒"/>
          <p:cNvSpPr txBox="1"/>
          <p:nvPr/>
        </p:nvSpPr>
        <p:spPr>
          <a:xfrm>
            <a:off x="731520" y="1572768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zh-HK">
                <a:solidFill>
                  <a:srgbClr val="EEDFC7"/>
                </a:solidFill>
                <a:latin typeface="PMingLiU"/>
                <a:ea typeface="PMingLiU"/>
              </a:rPr>
              <a:t>帶走三句提醒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880360"/>
            <a:ext cx="3246119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: 約翰福音 8:12"/>
          <p:cNvSpPr txBox="1"/>
          <p:nvPr/>
        </p:nvSpPr>
        <p:spPr>
          <a:xfrm>
            <a:off x="731520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約翰福音 8:12</a:t>
            </a:r>
          </a:p>
        </p:txBody>
      </p:sp>
      <p:sp>
        <p:nvSpPr>
          <p:cNvPr id="11" name="Text: 跟從耶穌"/>
          <p:cNvSpPr txBox="1"/>
          <p:nvPr/>
        </p:nvSpPr>
        <p:spPr>
          <a:xfrm>
            <a:off x="731520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HK">
                <a:solidFill>
                  <a:srgbClr val="EEDFC7"/>
                </a:solidFill>
                <a:latin typeface="PMingLiU"/>
                <a:ea typeface="PMingLiU"/>
              </a:rPr>
              <a:t>跟從耶穌</a:t>
            </a:r>
          </a:p>
        </p:txBody>
      </p:sp>
      <p:sp>
        <p:nvSpPr>
          <p:cNvPr id="12" name="Text: 帶出生命嘅光，&#10;等人看見希望。"/>
          <p:cNvSpPr txBox="1"/>
          <p:nvPr/>
        </p:nvSpPr>
        <p:spPr>
          <a:xfrm>
            <a:off x="731520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帶出生命嘅光，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等人看見希望。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71416" y="2880360"/>
            <a:ext cx="324612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 羅馬書 12:2"/>
          <p:cNvSpPr txBox="1"/>
          <p:nvPr/>
        </p:nvSpPr>
        <p:spPr>
          <a:xfrm>
            <a:off x="4471416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羅馬書 12:2</a:t>
            </a:r>
          </a:p>
        </p:txBody>
      </p:sp>
      <p:sp>
        <p:nvSpPr>
          <p:cNvPr id="15" name="Text: 更新、分辨"/>
          <p:cNvSpPr txBox="1"/>
          <p:nvPr/>
        </p:nvSpPr>
        <p:spPr>
          <a:xfrm>
            <a:off x="4471416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HK">
                <a:solidFill>
                  <a:srgbClr val="EEDFC7"/>
                </a:solidFill>
                <a:latin typeface="PMingLiU"/>
                <a:ea typeface="PMingLiU"/>
              </a:rPr>
              <a:t>更新、分辨</a:t>
            </a:r>
          </a:p>
        </p:txBody>
      </p:sp>
      <p:sp>
        <p:nvSpPr>
          <p:cNvPr id="16" name="Text: 唔只跟隨潮流，&#10;學習察驗合宜嘅選擇。"/>
          <p:cNvSpPr txBox="1"/>
          <p:nvPr/>
        </p:nvSpPr>
        <p:spPr>
          <a:xfrm>
            <a:off x="4471416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唔只跟隨潮流，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學習察驗合宜嘅選擇。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11312" y="2880360"/>
            <a:ext cx="324612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: 提摩太後書 1:7"/>
          <p:cNvSpPr txBox="1"/>
          <p:nvPr/>
        </p:nvSpPr>
        <p:spPr>
          <a:xfrm>
            <a:off x="8211312" y="305409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提摩太後書 1:7</a:t>
            </a:r>
          </a:p>
        </p:txBody>
      </p:sp>
      <p:sp>
        <p:nvSpPr>
          <p:cNvPr id="19" name="Text: 剛強、仁愛、謹守"/>
          <p:cNvSpPr txBox="1"/>
          <p:nvPr/>
        </p:nvSpPr>
        <p:spPr>
          <a:xfrm>
            <a:off x="8211312" y="356616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HK">
                <a:solidFill>
                  <a:srgbClr val="EEDFC7"/>
                </a:solidFill>
                <a:latin typeface="PMingLiU"/>
                <a:ea typeface="PMingLiU"/>
              </a:rPr>
              <a:t>剛強、仁愛、謹守</a:t>
            </a:r>
          </a:p>
        </p:txBody>
      </p:sp>
      <p:sp>
        <p:nvSpPr>
          <p:cNvPr id="20" name="Text: 唔以恐懼作決定，&#10;都唔用敵意回應朋友。"/>
          <p:cNvSpPr txBox="1"/>
          <p:nvPr/>
        </p:nvSpPr>
        <p:spPr>
          <a:xfrm>
            <a:off x="8211312" y="4572000"/>
            <a:ext cx="3246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唔以恐懼作決定，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都唔用敵意回應朋友。</a:t>
            </a:r>
          </a:p>
        </p:txBody>
      </p:sp>
      <p:sp>
        <p:nvSpPr>
          <p:cNvPr id="21" name="Text: 今日，我最想實踐哪一句？"/>
          <p:cNvSpPr txBox="1"/>
          <p:nvPr/>
        </p:nvSpPr>
        <p:spPr>
          <a:xfrm>
            <a:off x="731520" y="5596128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lang="zh-HK">
                <a:solidFill>
                  <a:srgbClr val="D8B78F"/>
                </a:solidFill>
                <a:latin typeface="PMingLiU"/>
                <a:ea typeface="PMingLiU"/>
              </a:rPr>
              <a:t>今日，我最想實踐哪一句？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22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22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回應同禱告｜40–5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回應同禱告｜40–50 分鐘</a:t>
            </a:r>
          </a:p>
        </p:txBody>
      </p:sp>
      <p:sp>
        <p:nvSpPr>
          <p:cNvPr id="7" name="Text: 可以一起禱告，都可以安靜聆聽"/>
          <p:cNvSpPr txBox="1"/>
          <p:nvPr/>
        </p:nvSpPr>
        <p:spPr>
          <a:xfrm>
            <a:off x="731520" y="9875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可以一起禱告，都可以安靜聆聽</a:t>
            </a:r>
          </a:p>
        </p:txBody>
      </p:sp>
      <p:sp>
        <p:nvSpPr>
          <p:cNvPr id="8" name="Text: 求祢等我哋，成為祝福"/>
          <p:cNvSpPr txBox="1"/>
          <p:nvPr/>
        </p:nvSpPr>
        <p:spPr>
          <a:xfrm>
            <a:off x="731520" y="1572768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zh-HK">
                <a:solidFill>
                  <a:srgbClr val="2A1E13"/>
                </a:solidFill>
                <a:latin typeface="PMingLiU"/>
                <a:ea typeface="PMingLiU"/>
              </a:rPr>
              <a:t>求祢等我哋，成為祝福</a:t>
            </a:r>
          </a:p>
        </p:txBody>
      </p:sp>
      <p:sp>
        <p:nvSpPr>
          <p:cNvPr id="9" name="Text: 親愛嘅天父，謝謝祢召喚我哋成為光明嘅兒女。&#10;求祢賜給我哋智慧去分"/>
          <p:cNvSpPr txBox="1"/>
          <p:nvPr/>
        </p:nvSpPr>
        <p:spPr>
          <a:xfrm>
            <a:off x="731520" y="2587752"/>
            <a:ext cx="10725912" cy="3355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2A1E13"/>
                </a:solidFill>
                <a:latin typeface="PMingLiU"/>
                <a:ea typeface="PMingLiU"/>
              </a:rPr>
              <a:t>親愛嘅天父，謝謝祢召喚我哋成為光明嘅兒女。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2A1E13"/>
                </a:solidFill>
                <a:latin typeface="PMingLiU"/>
                <a:ea typeface="PMingLiU"/>
              </a:rPr>
              <a:t>求祢賜給我哋智慧去分辨，勇氣去堅持合宜嘅選擇，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2A1E13"/>
                </a:solidFill>
                <a:latin typeface="PMingLiU"/>
                <a:ea typeface="PMingLiU"/>
              </a:rPr>
              <a:t>都賜給我哋愛心去尊重身邊嘅人。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2A1E13"/>
                </a:solidFill>
                <a:latin typeface="PMingLiU"/>
                <a:ea typeface="PMingLiU"/>
              </a:rPr>
              <a:t>面對同儕壓力或心裏唔安時，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2A1E13"/>
                </a:solidFill>
                <a:latin typeface="PMingLiU"/>
                <a:ea typeface="PMingLiU"/>
              </a:rPr>
              <a:t>等我哋記住祢所賜嘅，係剛強、仁愛、謹守嘅心。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2A1E13"/>
                </a:solidFill>
                <a:latin typeface="PMingLiU"/>
                <a:ea typeface="PMingLiU"/>
              </a:rPr>
              <a:t>等我哋用祢嘅愛同喜樂，成為朋友嘅祝福。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2A1E13"/>
                </a:solidFill>
                <a:latin typeface="PMingLiU"/>
                <a:ea typeface="PMingLiU"/>
              </a:rPr>
              <a:t>禱告奉耶穌基督嘅名求，阿門。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23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23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回應同禱告｜40–5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回應同禱告｜40–50 分鐘</a:t>
            </a:r>
          </a:p>
        </p:txBody>
      </p:sp>
      <p:sp>
        <p:nvSpPr>
          <p:cNvPr id="7" name="Text: 自願分享，唔使硬撐。"/>
          <p:cNvSpPr txBox="1"/>
          <p:nvPr/>
        </p:nvSpPr>
        <p:spPr>
          <a:xfrm>
            <a:off x="731520" y="1207008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zh-HK">
                <a:solidFill>
                  <a:srgbClr val="D8B78F"/>
                </a:solidFill>
                <a:latin typeface="Microsoft JhengHei"/>
                <a:ea typeface="Microsoft JhengHei"/>
              </a:rPr>
              <a:t>自願分享，唔使硬撐。</a:t>
            </a:r>
          </a:p>
        </p:txBody>
      </p:sp>
      <p:sp>
        <p:nvSpPr>
          <p:cNvPr id="8" name="Text: 你唔孤單。"/>
          <p:cNvSpPr txBox="1"/>
          <p:nvPr/>
        </p:nvSpPr>
        <p:spPr>
          <a:xfrm>
            <a:off x="731520" y="1920240"/>
            <a:ext cx="1072591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 lang="zh-HK">
                <a:solidFill>
                  <a:srgbClr val="EEDFC7"/>
                </a:solidFill>
                <a:latin typeface="PMingLiU"/>
                <a:ea typeface="PMingLiU"/>
              </a:rPr>
              <a:t>你唔孤單。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611880"/>
            <a:ext cx="3246119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: 約 1 分鐘"/>
          <p:cNvSpPr txBox="1"/>
          <p:nvPr/>
        </p:nvSpPr>
        <p:spPr>
          <a:xfrm>
            <a:off x="731520" y="378561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約 1 分鐘</a:t>
            </a:r>
          </a:p>
        </p:txBody>
      </p:sp>
      <p:sp>
        <p:nvSpPr>
          <p:cNvPr id="11" name="Text: 分享一件需要"/>
          <p:cNvSpPr txBox="1"/>
          <p:nvPr/>
        </p:nvSpPr>
        <p:spPr>
          <a:xfrm>
            <a:off x="731520" y="429768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EEDFC7"/>
                </a:solidFill>
                <a:latin typeface="PMingLiU"/>
                <a:ea typeface="PMingLiU"/>
              </a:rPr>
              <a:t>分享一件需要</a:t>
            </a:r>
          </a:p>
        </p:txBody>
      </p:sp>
      <p:sp>
        <p:nvSpPr>
          <p:cNvPr id="12" name="Text: 同儕壓力、揀嘅困難，&#10;或一件想得到支持嘅事。"/>
          <p:cNvSpPr txBox="1"/>
          <p:nvPr/>
        </p:nvSpPr>
        <p:spPr>
          <a:xfrm>
            <a:off x="731520" y="530352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同儕壓力、揀嘅困難，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或一件想得到支持嘅事。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71416" y="3611880"/>
            <a:ext cx="324612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: 各約 1 分鐘"/>
          <p:cNvSpPr txBox="1"/>
          <p:nvPr/>
        </p:nvSpPr>
        <p:spPr>
          <a:xfrm>
            <a:off x="4471416" y="378561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各約 1 分鐘</a:t>
            </a:r>
          </a:p>
        </p:txBody>
      </p:sp>
      <p:sp>
        <p:nvSpPr>
          <p:cNvPr id="15" name="Text: 為夥伴代禱"/>
          <p:cNvSpPr txBox="1"/>
          <p:nvPr/>
        </p:nvSpPr>
        <p:spPr>
          <a:xfrm>
            <a:off x="4471416" y="429768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EEDFC7"/>
                </a:solidFill>
                <a:latin typeface="PMingLiU"/>
                <a:ea typeface="PMingLiU"/>
              </a:rPr>
              <a:t>為夥伴代禱</a:t>
            </a:r>
          </a:p>
        </p:txBody>
      </p:sp>
      <p:sp>
        <p:nvSpPr>
          <p:cNvPr id="16" name="Text: 簡單講出祝福，&#10;唔用給建議或評論。"/>
          <p:cNvSpPr txBox="1"/>
          <p:nvPr/>
        </p:nvSpPr>
        <p:spPr>
          <a:xfrm>
            <a:off x="4471416" y="530352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簡單講出祝福，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唔用給建議或評論。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11312" y="3611880"/>
            <a:ext cx="3246120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: 唔想分享都可以"/>
          <p:cNvSpPr txBox="1"/>
          <p:nvPr/>
        </p:nvSpPr>
        <p:spPr>
          <a:xfrm>
            <a:off x="8211312" y="3785616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D8B78F"/>
                </a:solidFill>
                <a:latin typeface="Microsoft JhengHei"/>
                <a:ea typeface="Microsoft JhengHei"/>
              </a:rPr>
              <a:t>唔想分享都可以</a:t>
            </a:r>
          </a:p>
        </p:txBody>
      </p:sp>
      <p:sp>
        <p:nvSpPr>
          <p:cNvPr id="19" name="Text: 安靜默禱"/>
          <p:cNvSpPr txBox="1"/>
          <p:nvPr/>
        </p:nvSpPr>
        <p:spPr>
          <a:xfrm>
            <a:off x="8211312" y="4297680"/>
            <a:ext cx="32461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zh-HK">
                <a:solidFill>
                  <a:srgbClr val="EEDFC7"/>
                </a:solidFill>
                <a:latin typeface="PMingLiU"/>
                <a:ea typeface="PMingLiU"/>
              </a:rPr>
              <a:t>安靜默禱</a:t>
            </a:r>
          </a:p>
        </p:txBody>
      </p:sp>
      <p:sp>
        <p:nvSpPr>
          <p:cNvPr id="20" name="Text: 如果有需要，&#10;聚會後搵導師談談。"/>
          <p:cNvSpPr txBox="1"/>
          <p:nvPr/>
        </p:nvSpPr>
        <p:spPr>
          <a:xfrm>
            <a:off x="8211312" y="5303520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如果有需要，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聚會後搵導師談談。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24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24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光明派對｜50–6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光明派對｜50–60 分鐘</a:t>
            </a:r>
          </a:p>
        </p:txBody>
      </p:sp>
      <p:sp>
        <p:nvSpPr>
          <p:cNvPr id="7" name="Text: 我哋嘅替代選擇"/>
          <p:cNvSpPr txBox="1"/>
          <p:nvPr/>
        </p:nvSpPr>
        <p:spPr>
          <a:xfrm>
            <a:off x="731520" y="1225296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HK">
                <a:solidFill>
                  <a:srgbClr val="804212"/>
                </a:solidFill>
                <a:latin typeface="Microsoft JhengHei"/>
                <a:ea typeface="Microsoft JhengHei"/>
              </a:rPr>
              <a:t>我哋嘅替代選擇</a:t>
            </a:r>
          </a:p>
        </p:txBody>
      </p:sp>
      <p:sp>
        <p:nvSpPr>
          <p:cNvPr id="8" name="Text: 光明派對"/>
          <p:cNvSpPr txBox="1"/>
          <p:nvPr/>
        </p:nvSpPr>
        <p:spPr>
          <a:xfrm>
            <a:off x="731520" y="1947672"/>
            <a:ext cx="7772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300" b="1" lang="zh-HK">
                <a:solidFill>
                  <a:srgbClr val="2A1E13"/>
                </a:solidFill>
                <a:latin typeface="PMingLiU"/>
                <a:ea typeface="PMingLiU"/>
              </a:rPr>
              <a:t>光明派對</a:t>
            </a:r>
          </a:p>
        </p:txBody>
      </p:sp>
      <p:sp>
        <p:nvSpPr>
          <p:cNvPr id="9" name="Text: LIGHT PARTY"/>
          <p:cNvSpPr txBox="1"/>
          <p:nvPr/>
        </p:nvSpPr>
        <p:spPr>
          <a:xfrm>
            <a:off x="731520" y="3410712"/>
            <a:ext cx="76809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lang="zh-HK">
                <a:solidFill>
                  <a:srgbClr val="804212"/>
                </a:solidFill>
                <a:latin typeface="PMingLiU"/>
                <a:ea typeface="PMingLiU"/>
              </a:rPr>
              <a:t>LIGHT PARTY</a:t>
            </a:r>
          </a:p>
        </p:txBody>
      </p:sp>
      <p:sp>
        <p:nvSpPr>
          <p:cNvPr id="10" name="Text: 領取光明禮包  /  享用點心  /  寫一張祝福卡"/>
          <p:cNvSpPr txBox="1"/>
          <p:nvPr/>
        </p:nvSpPr>
        <p:spPr>
          <a:xfrm>
            <a:off x="731520" y="4471416"/>
            <a:ext cx="107259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HK">
                <a:solidFill>
                  <a:srgbClr val="2A1E13"/>
                </a:solidFill>
                <a:latin typeface="Microsoft JhengHei"/>
                <a:ea typeface="Microsoft JhengHei"/>
              </a:rPr>
              <a:t>領取光明禮包  /  享用點心  /  寫一張祝福卡</a:t>
            </a:r>
          </a:p>
        </p:txBody>
      </p:sp>
      <p:sp>
        <p:nvSpPr>
          <p:cNvPr id="11" name="Text: 留意食物過敏；螢光棒唔拆開、唔咬破；保持走道暢通。"/>
          <p:cNvSpPr txBox="1"/>
          <p:nvPr/>
        </p:nvSpPr>
        <p:spPr>
          <a:xfrm>
            <a:off x="731520" y="5577840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留意食物過敏；螢光棒唔拆開、唔咬破；保持走道暢通。</a:t>
            </a:r>
          </a:p>
        </p:txBody>
      </p:sp>
      <p:sp>
        <p:nvSpPr>
          <p:cNvPr id="12" name="Oval 11"/>
          <p:cNvSpPr/>
          <p:nvPr/>
        </p:nvSpPr>
        <p:spPr>
          <a:xfrm>
            <a:off x="8677656" y="1819656"/>
            <a:ext cx="1920240" cy="1920240"/>
          </a:xfrm>
          <a:prstGeom prst="ellipse">
            <a:avLst/>
          </a:prstGeom>
          <a:noFill/>
          <a:ln w="10160">
            <a:solidFill>
              <a:srgbClr val="BBA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03920" y="1645920"/>
            <a:ext cx="2267712" cy="2267712"/>
          </a:xfrm>
          <a:prstGeom prst="ellipse">
            <a:avLst/>
          </a:prstGeom>
          <a:noFill/>
          <a:ln w="10160">
            <a:solidFill>
              <a:srgbClr val="BBA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30183" y="1472184"/>
            <a:ext cx="2615184" cy="2615184"/>
          </a:xfrm>
          <a:prstGeom prst="ellipse">
            <a:avLst/>
          </a:prstGeom>
          <a:noFill/>
          <a:ln w="10160">
            <a:solidFill>
              <a:srgbClr val="BBA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09176" y="2551176"/>
            <a:ext cx="457200" cy="457200"/>
          </a:xfrm>
          <a:prstGeom prst="ellipse">
            <a:avLst/>
          </a:prstGeom>
          <a:solidFill>
            <a:srgbClr val="804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0252252" y="2779776"/>
            <a:ext cx="135185" cy="0"/>
          </a:xfrm>
          <a:prstGeom prst="line">
            <a:avLst/>
          </a:prstGeom>
          <a:ln w="17780">
            <a:solidFill>
              <a:srgbClr val="8042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72276" y="3214276"/>
            <a:ext cx="95590" cy="95590"/>
          </a:xfrm>
          <a:prstGeom prst="line">
            <a:avLst/>
          </a:prstGeom>
          <a:ln w="17780">
            <a:solidFill>
              <a:srgbClr val="8042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37776" y="3394252"/>
            <a:ext cx="0" cy="135185"/>
          </a:xfrm>
          <a:prstGeom prst="line">
            <a:avLst/>
          </a:prstGeom>
          <a:ln w="17780">
            <a:solidFill>
              <a:srgbClr val="8042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9107685" y="3214276"/>
            <a:ext cx="95590" cy="95590"/>
          </a:xfrm>
          <a:prstGeom prst="line">
            <a:avLst/>
          </a:prstGeom>
          <a:ln w="17780">
            <a:solidFill>
              <a:srgbClr val="8042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888114" y="2779776"/>
            <a:ext cx="135185" cy="0"/>
          </a:xfrm>
          <a:prstGeom prst="line">
            <a:avLst/>
          </a:prstGeom>
          <a:ln w="17780">
            <a:solidFill>
              <a:srgbClr val="8042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9107685" y="2249685"/>
            <a:ext cx="95590" cy="95590"/>
          </a:xfrm>
          <a:prstGeom prst="line">
            <a:avLst/>
          </a:prstGeom>
          <a:ln w="17780">
            <a:solidFill>
              <a:srgbClr val="8042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637776" y="2030114"/>
            <a:ext cx="0" cy="135185"/>
          </a:xfrm>
          <a:prstGeom prst="line">
            <a:avLst/>
          </a:prstGeom>
          <a:ln w="17780">
            <a:solidFill>
              <a:srgbClr val="8042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072276" y="2249685"/>
            <a:ext cx="95590" cy="95590"/>
          </a:xfrm>
          <a:prstGeom prst="line">
            <a:avLst/>
          </a:prstGeom>
          <a:ln w="17780">
            <a:solidFill>
              <a:srgbClr val="8042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25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25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光明派對｜50–6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光明派對｜50–60 分鐘</a:t>
            </a:r>
          </a:p>
        </p:txBody>
      </p:sp>
      <p:sp>
        <p:nvSpPr>
          <p:cNvPr id="7" name="Text: 寫給一位，你想鼓勵嘅朋友"/>
          <p:cNvSpPr txBox="1"/>
          <p:nvPr/>
        </p:nvSpPr>
        <p:spPr>
          <a:xfrm>
            <a:off x="731520" y="9875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寫給一位，你想鼓勵嘅朋友</a:t>
            </a:r>
          </a:p>
        </p:txBody>
      </p:sp>
      <p:sp>
        <p:nvSpPr>
          <p:cNvPr id="8" name="Text: 寫一張卡，把光帶出去"/>
          <p:cNvSpPr txBox="1"/>
          <p:nvPr/>
        </p:nvSpPr>
        <p:spPr>
          <a:xfrm>
            <a:off x="731520" y="1572768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zh-HK">
                <a:solidFill>
                  <a:srgbClr val="2A1E13"/>
                </a:solidFill>
                <a:latin typeface="PMingLiU"/>
                <a:ea typeface="PMingLiU"/>
              </a:rPr>
              <a:t>寫一張卡，把光帶出去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715768"/>
            <a:ext cx="6729984" cy="3154680"/>
          </a:xfrm>
          <a:prstGeom prst="rect">
            <a:avLst/>
          </a:prstGeom>
          <a:solidFill>
            <a:srgbClr val="EEDFC7"/>
          </a:solidFill>
          <a:ln w="10160">
            <a:solidFill>
              <a:srgbClr val="BBA7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親愛嘅 __________________："/>
          <p:cNvSpPr txBox="1"/>
          <p:nvPr/>
        </p:nvSpPr>
        <p:spPr>
          <a:xfrm>
            <a:off x="1033271" y="3063240"/>
            <a:ext cx="6153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lang="zh-HK">
                <a:solidFill>
                  <a:srgbClr val="2A1E13"/>
                </a:solidFill>
                <a:latin typeface="PMingLiU"/>
                <a:ea typeface="PMingLiU"/>
              </a:rPr>
              <a:t>親愛嘅 __________________：</a:t>
            </a:r>
          </a:p>
        </p:txBody>
      </p:sp>
      <p:sp>
        <p:nvSpPr>
          <p:cNvPr id="11" name="Text: 多謝你一直陪住我。&#10;願你今日有平安，&#10;都記住你並唔孤單。"/>
          <p:cNvSpPr txBox="1"/>
          <p:nvPr/>
        </p:nvSpPr>
        <p:spPr>
          <a:xfrm>
            <a:off x="1033271" y="3767328"/>
            <a:ext cx="615391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HK">
                <a:solidFill>
                  <a:srgbClr val="2A1E13"/>
                </a:solidFill>
                <a:latin typeface="PMingLiU"/>
                <a:ea typeface="PMingLiU"/>
              </a:rPr>
              <a:t>多謝你一直陪住我。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HK">
                <a:solidFill>
                  <a:srgbClr val="2A1E13"/>
                </a:solidFill>
                <a:latin typeface="PMingLiU"/>
                <a:ea typeface="PMingLiU"/>
              </a:rPr>
              <a:t>願你今日有平安，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lang="zh-HK">
                <a:solidFill>
                  <a:srgbClr val="2A1E13"/>
                </a:solidFill>
                <a:latin typeface="PMingLiU"/>
                <a:ea typeface="PMingLiU"/>
              </a:rPr>
              <a:t>都記住你並唔孤單。</a:t>
            </a:r>
          </a:p>
        </p:txBody>
      </p:sp>
      <p:sp>
        <p:nvSpPr>
          <p:cNvPr id="12" name="Text: 你嘅朋友：__________________"/>
          <p:cNvSpPr txBox="1"/>
          <p:nvPr/>
        </p:nvSpPr>
        <p:spPr>
          <a:xfrm>
            <a:off x="1033271" y="5477256"/>
            <a:ext cx="6153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你嘅朋友：__________________</a:t>
            </a:r>
          </a:p>
        </p:txBody>
      </p:sp>
      <p:sp>
        <p:nvSpPr>
          <p:cNvPr id="13" name="Text: 一張卡，三個元素"/>
          <p:cNvSpPr txBox="1"/>
          <p:nvPr/>
        </p:nvSpPr>
        <p:spPr>
          <a:xfrm>
            <a:off x="7955279" y="2935224"/>
            <a:ext cx="35021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zh-HK">
                <a:solidFill>
                  <a:srgbClr val="2A1E13"/>
                </a:solidFill>
                <a:latin typeface="PMingLiU"/>
                <a:ea typeface="PMingLiU"/>
              </a:rPr>
              <a:t>一張卡，三個元素</a:t>
            </a:r>
          </a:p>
        </p:txBody>
      </p:sp>
      <p:sp>
        <p:nvSpPr>
          <p:cNvPr id="14" name="Text: 一句真誠鼓勵&#10;一項支持行動&#10;一位想祝福嘅朋友"/>
          <p:cNvSpPr txBox="1"/>
          <p:nvPr/>
        </p:nvSpPr>
        <p:spPr>
          <a:xfrm>
            <a:off x="7955279" y="3886200"/>
            <a:ext cx="350215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2A1E13"/>
                </a:solidFill>
                <a:latin typeface="Microsoft JhengHei"/>
                <a:ea typeface="Microsoft JhengHei"/>
              </a:rPr>
              <a:t>一句真誠鼓勵</a:t>
            </a: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2A1E13"/>
                </a:solidFill>
                <a:latin typeface="Microsoft JhengHei"/>
                <a:ea typeface="Microsoft JhengHei"/>
              </a:rPr>
              <a:t>一項支持行動</a:t>
            </a:r>
          </a:p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zh-HK">
                <a:solidFill>
                  <a:srgbClr val="2A1E13"/>
                </a:solidFill>
                <a:latin typeface="Microsoft JhengHei"/>
                <a:ea typeface="Microsoft JhengHei"/>
              </a:rPr>
              <a:t>一位想祝福嘅朋友</a:t>
            </a:r>
          </a:p>
        </p:txBody>
      </p:sp>
      <p:sp>
        <p:nvSpPr>
          <p:cNvPr id="15" name="Text: 約 2 分鐘寫卡，其餘時間自由交流。"/>
          <p:cNvSpPr txBox="1"/>
          <p:nvPr/>
        </p:nvSpPr>
        <p:spPr>
          <a:xfrm>
            <a:off x="7955279" y="5568696"/>
            <a:ext cx="35021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約 2 分鐘寫卡，其餘時間自由交流。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26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26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776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光明派對｜50–60 分鐘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光明派對｜50–60 分鐘</a:t>
            </a:r>
          </a:p>
        </p:txBody>
      </p:sp>
      <p:sp>
        <p:nvSpPr>
          <p:cNvPr id="7" name="Text: 等信仰，成為一個今日就能做嘅行動。"/>
          <p:cNvSpPr txBox="1"/>
          <p:nvPr/>
        </p:nvSpPr>
        <p:spPr>
          <a:xfrm>
            <a:off x="731520" y="1252728"/>
            <a:ext cx="10725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HK">
                <a:solidFill>
                  <a:srgbClr val="D8B78F"/>
                </a:solidFill>
                <a:latin typeface="Microsoft JhengHei"/>
                <a:ea typeface="Microsoft JhengHei"/>
              </a:rPr>
              <a:t>等信仰，成為一個今日就能做嘅行動。</a:t>
            </a:r>
          </a:p>
        </p:txBody>
      </p:sp>
      <p:sp>
        <p:nvSpPr>
          <p:cNvPr id="8" name="Text: 唔只避開黑暗，&#10;更要活出光。"/>
          <p:cNvSpPr txBox="1"/>
          <p:nvPr/>
        </p:nvSpPr>
        <p:spPr>
          <a:xfrm>
            <a:off x="731520" y="2048256"/>
            <a:ext cx="1072591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5900" b="1" lang="zh-HK">
                <a:solidFill>
                  <a:srgbClr val="EEDFC7"/>
                </a:solidFill>
                <a:latin typeface="PMingLiU"/>
                <a:ea typeface="PMingLiU"/>
              </a:rPr>
              <a:t>唔只避開黑暗，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5900" b="1" lang="zh-HK">
                <a:solidFill>
                  <a:srgbClr val="EEDFC7"/>
                </a:solidFill>
                <a:latin typeface="PMingLiU"/>
                <a:ea typeface="PMingLiU"/>
              </a:rPr>
              <a:t>更要活出光。</a:t>
            </a:r>
          </a:p>
        </p:txBody>
      </p:sp>
      <p:sp>
        <p:nvSpPr>
          <p:cNvPr id="9" name="Text: 溫柔講出界線  /  鼓勵一位朋友  /  把祝福帶出去"/>
          <p:cNvSpPr txBox="1"/>
          <p:nvPr/>
        </p:nvSpPr>
        <p:spPr>
          <a:xfrm>
            <a:off x="731520" y="4846320"/>
            <a:ext cx="1072591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zh-HK">
                <a:solidFill>
                  <a:srgbClr val="CFC0A9"/>
                </a:solidFill>
                <a:latin typeface="Microsoft JhengHei"/>
                <a:ea typeface="Microsoft JhengHei"/>
              </a:rPr>
              <a:t>溫柔講出界線  /  鼓勵一位朋友  /  把祝福帶出去</a:t>
            </a:r>
          </a:p>
        </p:txBody>
      </p:sp>
      <p:sp>
        <p:nvSpPr>
          <p:cNvPr id="10" name="Text: 願你帶着平安同喜樂，成為身邊人嘅祝福。"/>
          <p:cNvSpPr txBox="1"/>
          <p:nvPr/>
        </p:nvSpPr>
        <p:spPr>
          <a:xfrm>
            <a:off x="731520" y="5678424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zh-HK">
                <a:solidFill>
                  <a:srgbClr val="D8B78F"/>
                </a:solidFill>
                <a:latin typeface="Microsoft JhengHei"/>
                <a:ea typeface="Microsoft JhengHei"/>
              </a:rPr>
              <a:t>願你帶着平安同喜樂，成為身邊人嘅祝福。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F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LIGHT PARTY  /  青少年團契"/>
          <p:cNvSpPr txBox="1"/>
          <p:nvPr/>
        </p:nvSpPr>
        <p:spPr>
          <a:xfrm>
            <a:off x="731520" y="39319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LIGHT PARTY  /  青少年團契</a:t>
            </a:r>
          </a:p>
        </p:txBody>
      </p:sp>
      <p:sp>
        <p:nvSpPr>
          <p:cNvPr id="3" name="Text: 27 / 27"/>
          <p:cNvSpPr txBox="1"/>
          <p:nvPr/>
        </p:nvSpPr>
        <p:spPr>
          <a:xfrm>
            <a:off x="10424160" y="393192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27 / 27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31520" y="6263640"/>
            <a:ext cx="10725912" cy="0"/>
          </a:xfrm>
          <a:prstGeom prst="line">
            <a:avLst/>
          </a:prstGeom>
          <a:ln w="10160">
            <a:solidFill>
              <a:srgbClr val="BBA7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: 附錄｜唔需投影"/>
          <p:cNvSpPr txBox="1"/>
          <p:nvPr/>
        </p:nvSpPr>
        <p:spPr>
          <a:xfrm>
            <a:off x="731520" y="6428232"/>
            <a:ext cx="87782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附錄｜唔需投影</a:t>
            </a:r>
          </a:p>
        </p:txBody>
      </p:sp>
      <p:sp>
        <p:nvSpPr>
          <p:cNvPr id="7" name="Text: 導師附錄｜正常聚會唔需逐項講解"/>
          <p:cNvSpPr txBox="1"/>
          <p:nvPr/>
        </p:nvSpPr>
        <p:spPr>
          <a:xfrm>
            <a:off x="731520" y="9875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HK">
                <a:solidFill>
                  <a:srgbClr val="804212"/>
                </a:solidFill>
                <a:latin typeface="Microsoft JhengHei"/>
                <a:ea typeface="Microsoft JhengHei"/>
              </a:rPr>
              <a:t>導師附錄｜正常聚會唔需逐項講解</a:t>
            </a:r>
          </a:p>
        </p:txBody>
      </p:sp>
      <p:sp>
        <p:nvSpPr>
          <p:cNvPr id="8" name="Text: 參考資料同內容講清楚"/>
          <p:cNvSpPr txBox="1"/>
          <p:nvPr/>
        </p:nvSpPr>
        <p:spPr>
          <a:xfrm>
            <a:off x="731520" y="1572768"/>
            <a:ext cx="106984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zh-HK">
                <a:solidFill>
                  <a:srgbClr val="2A1E13"/>
                </a:solidFill>
                <a:latin typeface="PMingLiU"/>
                <a:ea typeface="PMingLiU"/>
              </a:rPr>
              <a:t>參考資料同內容講清楚</a:t>
            </a:r>
          </a:p>
        </p:txBody>
      </p:sp>
      <p:sp>
        <p:nvSpPr>
          <p:cNvPr id="9" name="Text: 歷史同設計來源"/>
          <p:cNvSpPr txBox="1"/>
          <p:nvPr/>
        </p:nvSpPr>
        <p:spPr>
          <a:xfrm>
            <a:off x="731520" y="2651760"/>
            <a:ext cx="107259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zh-HK">
                <a:solidFill>
                  <a:srgbClr val="2A1E13"/>
                </a:solidFill>
                <a:latin typeface="PMingLiU"/>
                <a:ea typeface="PMingLiU"/>
              </a:rPr>
              <a:t>歷史同設計來源</a:t>
            </a:r>
          </a:p>
        </p:txBody>
      </p:sp>
      <p:sp>
        <p:nvSpPr>
          <p:cNvPr id="10" name="Text: HISTORY｜History of Halloween ↗"/>
          <p:cNvSpPr txBox="1"/>
          <p:nvPr/>
        </p:nvSpPr>
        <p:spPr>
          <a:xfrm>
            <a:off x="731520" y="317296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HK">
                <a:solidFill>
                  <a:srgbClr val="804212"/>
                </a:solidFill>
                <a:latin typeface="Microsoft JhengHei"/>
                <a:ea typeface="Microsoft JhengHei"/>
                <a:hlinkClick r:id="rId2"/>
              </a:rPr>
              <a:t>HISTORY｜History of Halloween ↗</a:t>
            </a:r>
          </a:p>
        </p:txBody>
      </p:sp>
      <p:sp>
        <p:nvSpPr>
          <p:cNvPr id="11" name="Text: https://www.history.com/articles"/>
          <p:cNvSpPr txBox="1"/>
          <p:nvPr/>
        </p:nvSpPr>
        <p:spPr>
          <a:xfrm>
            <a:off x="731520" y="3502152"/>
            <a:ext cx="10725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  <a:hlinkClick r:id="rId2"/>
              </a:rPr>
              <a:t>https://www.history.com/articles/history-of-halloween</a:t>
            </a:r>
          </a:p>
        </p:txBody>
      </p:sp>
      <p:sp>
        <p:nvSpPr>
          <p:cNvPr id="12" name="Text: Guizang PPT Skill｜設計同 HTML 模板 ↗"/>
          <p:cNvSpPr txBox="1"/>
          <p:nvPr/>
        </p:nvSpPr>
        <p:spPr>
          <a:xfrm>
            <a:off x="731520" y="3831336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HK">
                <a:solidFill>
                  <a:srgbClr val="804212"/>
                </a:solidFill>
                <a:latin typeface="Microsoft JhengHei"/>
                <a:ea typeface="Microsoft JhengHei"/>
                <a:hlinkClick r:id="rId3"/>
              </a:rPr>
              <a:t>Guizang PPT Skill｜設計同 HTML 模板 ↗</a:t>
            </a:r>
          </a:p>
        </p:txBody>
      </p:sp>
      <p:sp>
        <p:nvSpPr>
          <p:cNvPr id="13" name="Text: https://github.com/op7418/guizan"/>
          <p:cNvSpPr txBox="1"/>
          <p:nvPr/>
        </p:nvSpPr>
        <p:spPr>
          <a:xfrm>
            <a:off x="731520" y="4160520"/>
            <a:ext cx="10725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HK">
                <a:solidFill>
                  <a:srgbClr val="6A513D"/>
                </a:solidFill>
                <a:latin typeface="Microsoft JhengHei"/>
                <a:ea typeface="Microsoft JhengHei"/>
                <a:hlinkClick r:id="rId3"/>
              </a:rPr>
              <a:t>https://github.com/op7418/guizang-ppt-skill</a:t>
            </a:r>
          </a:p>
        </p:txBody>
      </p:sp>
      <p:sp>
        <p:nvSpPr>
          <p:cNvPr id="14" name="Text: 經文：使用者提供嘅和合本用語｜約 8:12、羅 12:2、提後 "/>
          <p:cNvSpPr txBox="1"/>
          <p:nvPr/>
        </p:nvSpPr>
        <p:spPr>
          <a:xfrm>
            <a:off x="731520" y="4681728"/>
            <a:ext cx="107259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HK">
                <a:solidFill>
                  <a:srgbClr val="2A1E13"/>
                </a:solidFill>
                <a:latin typeface="Microsoft JhengHei"/>
                <a:ea typeface="Microsoft JhengHei"/>
              </a:rPr>
              <a:t>經文：使用者提供嘅和合本用語｜約 8:12、羅 12:2、提後 1:7</a:t>
            </a:r>
          </a:p>
        </p:txBody>
      </p:sp>
      <p:sp>
        <p:nvSpPr>
          <p:cNvPr id="15" name="Text: 內容講清楚：薩溫節唔係冬至前夕；民俗唔係單一起源。&#10;唔同教會立場"/>
          <p:cNvSpPr txBox="1"/>
          <p:nvPr/>
        </p:nvSpPr>
        <p:spPr>
          <a:xfrm>
            <a:off x="731520" y="5175504"/>
            <a:ext cx="107259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內容講清楚：薩溫節唔係冬至前夕；民俗唔係單一起源。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唔同教會立場唔盡相同；本聚會以光明派對作正面回應。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zh-HK">
                <a:solidFill>
                  <a:srgbClr val="6A513D"/>
                </a:solidFill>
                <a:latin typeface="Microsoft JhengHei"/>
                <a:ea typeface="Microsoft JhengHei"/>
              </a:rPr>
              <a:t>逐頁安排共 54 分鐘，現場 60 分鐘；附錄只作導師備查。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選擇光明，活出喜樂｜60 分鐘青少年聚會</dc:title>
  <dc:subject>萬聖節文化、信仰分辨、同儕壓力與光明派對</dc:subject>
  <dc:creator>聚會導師</dc:creator>
  <cp:keywords>光明派對,青少年,團契,萬聖節,信仰分辨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